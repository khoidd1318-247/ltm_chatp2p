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Noto Sans" charset="1" panose="020B0502040504020204"/>
      <p:regular r:id="rId30"/>
    </p:embeddedFont>
    <p:embeddedFont>
      <p:font typeface="Noto Sans Bold" charset="1" panose="020B0802040504020204"/>
      <p:regular r:id="rId31"/>
    </p:embeddedFont>
    <p:embeddedFont>
      <p:font typeface="Agrandir Bold" charset="1" panose="00000800000000000000"/>
      <p:regular r:id="rId32"/>
    </p:embeddedFont>
    <p:embeddedFont>
      <p:font typeface="Agrandir" charset="1" panose="000005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5011742" y="1464999"/>
            <a:ext cx="7699056" cy="1306123"/>
          </a:xfrm>
          <a:custGeom>
            <a:avLst/>
            <a:gdLst/>
            <a:ahLst/>
            <a:cxnLst/>
            <a:rect r="r" b="b" t="t" l="l"/>
            <a:pathLst>
              <a:path h="1306123" w="7699056">
                <a:moveTo>
                  <a:pt x="0" y="0"/>
                </a:moveTo>
                <a:lnTo>
                  <a:pt x="7699056" y="0"/>
                </a:lnTo>
                <a:lnTo>
                  <a:pt x="7699056" y="1306122"/>
                </a:lnTo>
                <a:lnTo>
                  <a:pt x="0" y="1306122"/>
                </a:lnTo>
                <a:lnTo>
                  <a:pt x="0" y="0"/>
                </a:lnTo>
                <a:close/>
              </a:path>
            </a:pathLst>
          </a:custGeom>
          <a:blipFill>
            <a:blip r:embed="rId2"/>
            <a:stretch>
              <a:fillRect l="0" t="-6391" r="0" b="-4726"/>
            </a:stretch>
          </a:blipFill>
        </p:spPr>
      </p:sp>
      <p:sp>
        <p:nvSpPr>
          <p:cNvPr name="TextBox 3" id="3"/>
          <p:cNvSpPr txBox="true"/>
          <p:nvPr/>
        </p:nvSpPr>
        <p:spPr>
          <a:xfrm rot="0">
            <a:off x="1895578" y="209296"/>
            <a:ext cx="13931385"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Noto Sans"/>
                <a:ea typeface="Noto Sans"/>
                <a:cs typeface="Noto Sans"/>
                <a:sym typeface="Noto Sans"/>
              </a:rPr>
              <a:t>TRƯỜNG ĐẠI HỌC GIAO THÔNG VẬN TẢI THÀNH PHỐ HỒ CHÍ MINH </a:t>
            </a:r>
          </a:p>
        </p:txBody>
      </p:sp>
      <p:sp>
        <p:nvSpPr>
          <p:cNvPr name="TextBox 4" id="4"/>
          <p:cNvSpPr txBox="true"/>
          <p:nvPr/>
        </p:nvSpPr>
        <p:spPr>
          <a:xfrm rot="0">
            <a:off x="4834662" y="3134997"/>
            <a:ext cx="8053217" cy="1180465"/>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Noto Sans Bold"/>
                <a:ea typeface="Noto Sans Bold"/>
                <a:cs typeface="Noto Sans Bold"/>
                <a:sym typeface="Noto Sans Bold"/>
              </a:rPr>
              <a:t> </a:t>
            </a:r>
            <a:r>
              <a:rPr lang="en-US" b="true" sz="3399">
                <a:solidFill>
                  <a:srgbClr val="000000"/>
                </a:solidFill>
                <a:latin typeface="Noto Sans Bold"/>
                <a:ea typeface="Noto Sans Bold"/>
                <a:cs typeface="Noto Sans Bold"/>
                <a:sym typeface="Noto Sans Bold"/>
              </a:rPr>
              <a:t>BÁO CÁO DỰ ÁN MÔN HỌC:</a:t>
            </a:r>
          </a:p>
          <a:p>
            <a:pPr algn="ctr">
              <a:lnSpc>
                <a:spcPts val="4759"/>
              </a:lnSpc>
              <a:spcBef>
                <a:spcPct val="0"/>
              </a:spcBef>
            </a:pPr>
            <a:r>
              <a:rPr lang="en-US" b="true" sz="3399">
                <a:solidFill>
                  <a:srgbClr val="000000"/>
                </a:solidFill>
                <a:latin typeface="Noto Sans Bold"/>
                <a:ea typeface="Noto Sans Bold"/>
                <a:cs typeface="Noto Sans Bold"/>
                <a:sym typeface="Noto Sans Bold"/>
              </a:rPr>
              <a:t>LẬP TRÌNH MẠNG</a:t>
            </a:r>
          </a:p>
        </p:txBody>
      </p:sp>
      <p:sp>
        <p:nvSpPr>
          <p:cNvPr name="TextBox 5" id="5"/>
          <p:cNvSpPr txBox="true"/>
          <p:nvPr/>
        </p:nvSpPr>
        <p:spPr>
          <a:xfrm rot="0">
            <a:off x="4520668" y="4830753"/>
            <a:ext cx="8681204" cy="1749425"/>
          </a:xfrm>
          <a:prstGeom prst="rect">
            <a:avLst/>
          </a:prstGeom>
        </p:spPr>
        <p:txBody>
          <a:bodyPr anchor="t" rtlCol="false" tIns="0" lIns="0" bIns="0" rIns="0">
            <a:spAutoFit/>
          </a:bodyPr>
          <a:lstStyle/>
          <a:p>
            <a:pPr algn="ctr">
              <a:lnSpc>
                <a:spcPts val="7000"/>
              </a:lnSpc>
            </a:pPr>
            <a:r>
              <a:rPr lang="en-US" sz="5000" b="true">
                <a:solidFill>
                  <a:srgbClr val="000000"/>
                </a:solidFill>
                <a:latin typeface="Noto Sans Bold"/>
                <a:ea typeface="Noto Sans Bold"/>
                <a:cs typeface="Noto Sans Bold"/>
                <a:sym typeface="Noto Sans Bold"/>
              </a:rPr>
              <a:t>CHỦ ĐỀ :  UDM09 - CHATP2P</a:t>
            </a:r>
          </a:p>
          <a:p>
            <a:pPr algn="ctr">
              <a:lnSpc>
                <a:spcPts val="7000"/>
              </a:lnSpc>
            </a:pPr>
          </a:p>
        </p:txBody>
      </p:sp>
      <p:sp>
        <p:nvSpPr>
          <p:cNvPr name="TextBox 6" id="6"/>
          <p:cNvSpPr txBox="true"/>
          <p:nvPr/>
        </p:nvSpPr>
        <p:spPr>
          <a:xfrm rot="0">
            <a:off x="173988" y="8677910"/>
            <a:ext cx="9992250"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Noto Sans Bold"/>
                <a:ea typeface="Noto Sans Bold"/>
                <a:cs typeface="Noto Sans Bold"/>
                <a:sym typeface="Noto Sans Bold"/>
              </a:rPr>
              <a:t>GIẢNG VIÊN HƯỚNG DẪN : MAI NGỌC CHÂU</a:t>
            </a:r>
          </a:p>
        </p:txBody>
      </p:sp>
      <p:sp>
        <p:nvSpPr>
          <p:cNvPr name="TextBox 7" id="7"/>
          <p:cNvSpPr txBox="true"/>
          <p:nvPr/>
        </p:nvSpPr>
        <p:spPr>
          <a:xfrm rot="0">
            <a:off x="15081809" y="8677910"/>
            <a:ext cx="2037993" cy="580389"/>
          </a:xfrm>
          <a:prstGeom prst="rect">
            <a:avLst/>
          </a:prstGeom>
        </p:spPr>
        <p:txBody>
          <a:bodyPr anchor="t" rtlCol="false" tIns="0" lIns="0" bIns="0" rIns="0">
            <a:spAutoFit/>
          </a:bodyPr>
          <a:lstStyle/>
          <a:p>
            <a:pPr algn="ctr">
              <a:lnSpc>
                <a:spcPts val="4760"/>
              </a:lnSpc>
            </a:pPr>
            <a:r>
              <a:rPr lang="en-US" sz="3400" b="true">
                <a:solidFill>
                  <a:srgbClr val="000000"/>
                </a:solidFill>
                <a:latin typeface="Noto Sans Bold"/>
                <a:ea typeface="Noto Sans Bold"/>
                <a:cs typeface="Noto Sans Bold"/>
                <a:sym typeface="Noto Sans Bold"/>
              </a:rPr>
              <a:t>NHÓM 12</a:t>
            </a:r>
          </a:p>
        </p:txBody>
      </p:sp>
    </p:spTree>
  </p:cSld>
  <p:clrMapOvr>
    <a:masterClrMapping/>
  </p:clrMapOvr>
</p:sld>
</file>

<file path=ppt/slides/slide2.xml><?xml version="1.0" encoding="utf-8"?>
<p:sld xmlns:p="http://schemas.openxmlformats.org/presentationml/2006/main" xmlns:a="http://schemas.openxmlformats.org/drawingml/2006/main">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480464" y="1430165"/>
          <a:ext cx="12340298" cy="6771453"/>
        </p:xfrm>
        <a:graphic>
          <a:graphicData uri="http://schemas.openxmlformats.org/drawingml/2006/table">
            <a:tbl>
              <a:tblPr/>
              <a:tblGrid>
                <a:gridCol w="6225293"/>
                <a:gridCol w="6115005"/>
              </a:tblGrid>
              <a:tr h="1164465">
                <a:tc>
                  <a:txBody>
                    <a:bodyPr anchor="t" rtlCol="false"/>
                    <a:lstStyle/>
                    <a:p>
                      <a:pPr algn="ctr">
                        <a:lnSpc>
                          <a:spcPts val="2520"/>
                        </a:lnSpc>
                        <a:defRPr/>
                      </a:pPr>
                      <a:r>
                        <a:rPr lang="en-US" sz="1800" b="true">
                          <a:solidFill>
                            <a:srgbClr val="000000"/>
                          </a:solidFill>
                          <a:latin typeface="Agrandir Bold"/>
                          <a:ea typeface="Agrandir Bold"/>
                          <a:cs typeface="Agrandir Bold"/>
                          <a:sym typeface="Agrandir Bold"/>
                        </a:rPr>
                        <a:t>HỌ VÀ TÊN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Agrandir Bold"/>
                          <a:ea typeface="Agrandir Bold"/>
                          <a:cs typeface="Agrandir Bold"/>
                          <a:sym typeface="Agrandir Bold"/>
                        </a:rPr>
                        <a:t>MSSV</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49861">
                <a:tc>
                  <a:txBody>
                    <a:bodyPr anchor="t" rtlCol="false"/>
                    <a:lstStyle/>
                    <a:p>
                      <a:pPr algn="ctr">
                        <a:lnSpc>
                          <a:spcPts val="2520"/>
                        </a:lnSpc>
                        <a:defRPr/>
                      </a:pPr>
                      <a:r>
                        <a:rPr lang="en-US" sz="1800">
                          <a:solidFill>
                            <a:srgbClr val="000000"/>
                          </a:solidFill>
                          <a:latin typeface="Agrandir"/>
                          <a:ea typeface="Agrandir"/>
                          <a:cs typeface="Agrandir"/>
                          <a:sym typeface="Agrandir"/>
                        </a:rPr>
                        <a:t>Nguyễn Thanh Bình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grandir"/>
                          <a:ea typeface="Agrandir"/>
                          <a:cs typeface="Agrandir"/>
                          <a:sym typeface="Agrandir"/>
                        </a:rPr>
                        <a:t>075206012181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63330">
                <a:tc>
                  <a:txBody>
                    <a:bodyPr anchor="t" rtlCol="false"/>
                    <a:lstStyle/>
                    <a:p>
                      <a:pPr algn="ctr">
                        <a:lnSpc>
                          <a:spcPts val="2520"/>
                        </a:lnSpc>
                        <a:defRPr/>
                      </a:pPr>
                      <a:r>
                        <a:rPr lang="en-US" sz="1800">
                          <a:solidFill>
                            <a:srgbClr val="000000"/>
                          </a:solidFill>
                          <a:latin typeface="Agrandir"/>
                          <a:ea typeface="Agrandir"/>
                          <a:cs typeface="Agrandir"/>
                          <a:sym typeface="Agrandir"/>
                        </a:rPr>
                        <a:t>Bùi Gia Khang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grandir"/>
                          <a:ea typeface="Agrandir"/>
                          <a:cs typeface="Agrandir"/>
                          <a:sym typeface="Agrandir"/>
                        </a:rPr>
                        <a:t>091206017323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28175">
                <a:tc>
                  <a:txBody>
                    <a:bodyPr anchor="t" rtlCol="false"/>
                    <a:lstStyle/>
                    <a:p>
                      <a:pPr algn="ctr">
                        <a:lnSpc>
                          <a:spcPts val="2520"/>
                        </a:lnSpc>
                        <a:defRPr/>
                      </a:pPr>
                      <a:r>
                        <a:rPr lang="en-US" sz="1800">
                          <a:solidFill>
                            <a:srgbClr val="000000"/>
                          </a:solidFill>
                          <a:latin typeface="Agrandir"/>
                          <a:ea typeface="Agrandir"/>
                          <a:cs typeface="Agrandir"/>
                          <a:sym typeface="Agrandir"/>
                        </a:rPr>
                        <a:t>Dương Đình Khôi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grandir"/>
                          <a:ea typeface="Agrandir"/>
                          <a:cs typeface="Agrandir"/>
                          <a:sym typeface="Agrandir"/>
                        </a:rPr>
                        <a:t>096206001318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11844">
                <a:tc>
                  <a:txBody>
                    <a:bodyPr anchor="t" rtlCol="false"/>
                    <a:lstStyle/>
                    <a:p>
                      <a:pPr algn="ctr">
                        <a:lnSpc>
                          <a:spcPts val="2520"/>
                        </a:lnSpc>
                        <a:defRPr/>
                      </a:pPr>
                      <a:r>
                        <a:rPr lang="en-US" sz="1800">
                          <a:solidFill>
                            <a:srgbClr val="000000"/>
                          </a:solidFill>
                          <a:latin typeface="Agrandir"/>
                          <a:ea typeface="Agrandir"/>
                          <a:cs typeface="Agrandir"/>
                          <a:sym typeface="Agrandir"/>
                        </a:rPr>
                        <a:t>Lê Quang Pháp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grandir"/>
                          <a:ea typeface="Agrandir"/>
                          <a:cs typeface="Agrandir"/>
                          <a:sym typeface="Agrandir"/>
                        </a:rPr>
                        <a:t>087205005126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58265">
                <a:tc>
                  <a:txBody>
                    <a:bodyPr anchor="t" rtlCol="false"/>
                    <a:lstStyle/>
                    <a:p>
                      <a:pPr algn="ctr">
                        <a:lnSpc>
                          <a:spcPts val="2520"/>
                        </a:lnSpc>
                        <a:defRPr/>
                      </a:pPr>
                      <a:r>
                        <a:rPr lang="en-US" sz="1800">
                          <a:solidFill>
                            <a:srgbClr val="000000"/>
                          </a:solidFill>
                          <a:latin typeface="Agrandir"/>
                          <a:ea typeface="Agrandir"/>
                          <a:cs typeface="Agrandir"/>
                          <a:sym typeface="Agrandir"/>
                        </a:rPr>
                        <a:t>Hà Hữu Tường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grandir"/>
                          <a:ea typeface="Agrandir"/>
                          <a:cs typeface="Agrandir"/>
                          <a:sym typeface="Agrandir"/>
                        </a:rPr>
                        <a:t>068206002477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95513">
                <a:tc>
                  <a:txBody>
                    <a:bodyPr anchor="t" rtlCol="false"/>
                    <a:lstStyle/>
                    <a:p>
                      <a:pPr algn="ctr">
                        <a:lnSpc>
                          <a:spcPts val="2520"/>
                        </a:lnSpc>
                        <a:defRPr/>
                      </a:pPr>
                      <a:r>
                        <a:rPr lang="en-US" sz="1800">
                          <a:solidFill>
                            <a:srgbClr val="000000"/>
                          </a:solidFill>
                          <a:latin typeface="Agrandir"/>
                          <a:ea typeface="Agrandir"/>
                          <a:cs typeface="Agrandir"/>
                          <a:sym typeface="Agrandir"/>
                        </a:rPr>
                        <a:t>Phan Hữu Ý</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Agrandir"/>
                          <a:ea typeface="Agrandir"/>
                          <a:cs typeface="Agrandir"/>
                          <a:sym typeface="Agrandir"/>
                        </a:rPr>
                        <a:t>056207011353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028700" y="448310"/>
            <a:ext cx="3780354"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Noto Sans Bold"/>
                <a:ea typeface="Noto Sans Bold"/>
                <a:cs typeface="Noto Sans Bold"/>
                <a:sym typeface="Noto Sans Bold"/>
              </a:rPr>
              <a:t>TÊN THÀNH VIÊN </a:t>
            </a: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AutoShape 2" id="2"/>
          <p:cNvSpPr/>
          <p:nvPr/>
        </p:nvSpPr>
        <p:spPr>
          <a:xfrm>
            <a:off x="1028700" y="1240164"/>
            <a:ext cx="11773729" cy="0"/>
          </a:xfrm>
          <a:prstGeom prst="line">
            <a:avLst/>
          </a:prstGeom>
          <a:ln cap="flat" w="19050">
            <a:gradFill>
              <a:gsLst>
                <a:gs pos="0">
                  <a:srgbClr val="000000">
                    <a:alpha val="100000"/>
                  </a:srgbClr>
                </a:gs>
                <a:gs pos="50000">
                  <a:srgbClr val="CBCBCB">
                    <a:alpha val="100000"/>
                  </a:srgbClr>
                </a:gs>
                <a:gs pos="100000">
                  <a:srgbClr val="FEFEFE">
                    <a:alpha val="100000"/>
                  </a:srgbClr>
                </a:gs>
              </a:gsLst>
              <a:lin ang="0"/>
            </a:gradFill>
            <a:prstDash val="solid"/>
            <a:headEnd type="none" len="sm" w="sm"/>
            <a:tailEnd type="none" len="sm" w="sm"/>
          </a:ln>
        </p:spPr>
      </p:sp>
      <p:grpSp>
        <p:nvGrpSpPr>
          <p:cNvPr name="Group 3" id="3"/>
          <p:cNvGrpSpPr/>
          <p:nvPr/>
        </p:nvGrpSpPr>
        <p:grpSpPr>
          <a:xfrm rot="0">
            <a:off x="0" y="2759846"/>
            <a:ext cx="821282" cy="821282"/>
            <a:chOff x="0" y="0"/>
            <a:chExt cx="1095043" cy="1095043"/>
          </a:xfrm>
        </p:grpSpPr>
        <p:grpSp>
          <p:nvGrpSpPr>
            <p:cNvPr name="Group 4" id="4"/>
            <p:cNvGrpSpPr/>
            <p:nvPr/>
          </p:nvGrpSpPr>
          <p:grpSpPr>
            <a:xfrm rot="0">
              <a:off x="0" y="0"/>
              <a:ext cx="1095043" cy="109504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FF7"/>
              </a:solidFill>
            </p:spPr>
          </p:sp>
          <p:sp>
            <p:nvSpPr>
              <p:cNvPr name="TextBox 6" id="6"/>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sp>
          <p:nvSpPr>
            <p:cNvPr name="Freeform 7" id="7"/>
            <p:cNvSpPr/>
            <p:nvPr/>
          </p:nvSpPr>
          <p:spPr>
            <a:xfrm flipH="false" flipV="false" rot="0">
              <a:off x="283922" y="283922"/>
              <a:ext cx="527200" cy="527200"/>
            </a:xfrm>
            <a:custGeom>
              <a:avLst/>
              <a:gdLst/>
              <a:ahLst/>
              <a:cxnLst/>
              <a:rect r="r" b="b" t="t" l="l"/>
              <a:pathLst>
                <a:path h="527200" w="527200">
                  <a:moveTo>
                    <a:pt x="0" y="0"/>
                  </a:moveTo>
                  <a:lnTo>
                    <a:pt x="527199" y="0"/>
                  </a:lnTo>
                  <a:lnTo>
                    <a:pt x="527199" y="527199"/>
                  </a:lnTo>
                  <a:lnTo>
                    <a:pt x="0" y="527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0" y="5143500"/>
            <a:ext cx="821282" cy="821282"/>
            <a:chOff x="0" y="0"/>
            <a:chExt cx="1095043" cy="1095043"/>
          </a:xfrm>
        </p:grpSpPr>
        <p:grpSp>
          <p:nvGrpSpPr>
            <p:cNvPr name="Group 9" id="9"/>
            <p:cNvGrpSpPr/>
            <p:nvPr/>
          </p:nvGrpSpPr>
          <p:grpSpPr>
            <a:xfrm rot="0">
              <a:off x="0" y="0"/>
              <a:ext cx="1095043" cy="109504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FF7"/>
              </a:solidFill>
            </p:spPr>
          </p:sp>
          <p:sp>
            <p:nvSpPr>
              <p:cNvPr name="TextBox 11" id="11"/>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sp>
          <p:nvSpPr>
            <p:cNvPr name="Freeform 12" id="12"/>
            <p:cNvSpPr/>
            <p:nvPr/>
          </p:nvSpPr>
          <p:spPr>
            <a:xfrm flipH="false" flipV="false" rot="0">
              <a:off x="283922" y="283922"/>
              <a:ext cx="527200" cy="527200"/>
            </a:xfrm>
            <a:custGeom>
              <a:avLst/>
              <a:gdLst/>
              <a:ahLst/>
              <a:cxnLst/>
              <a:rect r="r" b="b" t="t" l="l"/>
              <a:pathLst>
                <a:path h="527200" w="527200">
                  <a:moveTo>
                    <a:pt x="0" y="0"/>
                  </a:moveTo>
                  <a:lnTo>
                    <a:pt x="527199" y="0"/>
                  </a:lnTo>
                  <a:lnTo>
                    <a:pt x="527199" y="527199"/>
                  </a:lnTo>
                  <a:lnTo>
                    <a:pt x="0" y="527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3" id="13"/>
          <p:cNvGrpSpPr/>
          <p:nvPr/>
        </p:nvGrpSpPr>
        <p:grpSpPr>
          <a:xfrm rot="0">
            <a:off x="0" y="7526882"/>
            <a:ext cx="821282" cy="821282"/>
            <a:chOff x="0" y="0"/>
            <a:chExt cx="1095043" cy="1095043"/>
          </a:xfrm>
        </p:grpSpPr>
        <p:grpSp>
          <p:nvGrpSpPr>
            <p:cNvPr name="Group 14" id="14"/>
            <p:cNvGrpSpPr/>
            <p:nvPr/>
          </p:nvGrpSpPr>
          <p:grpSpPr>
            <a:xfrm rot="0">
              <a:off x="0" y="0"/>
              <a:ext cx="1095043" cy="109504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3FF7"/>
              </a:solidFill>
            </p:spPr>
          </p:sp>
          <p:sp>
            <p:nvSpPr>
              <p:cNvPr name="TextBox 16" id="16"/>
              <p:cNvSpPr txBox="true"/>
              <p:nvPr/>
            </p:nvSpPr>
            <p:spPr>
              <a:xfrm>
                <a:off x="76200" y="-9525"/>
                <a:ext cx="660400" cy="746125"/>
              </a:xfrm>
              <a:prstGeom prst="rect">
                <a:avLst/>
              </a:prstGeom>
            </p:spPr>
            <p:txBody>
              <a:bodyPr anchor="ctr" rtlCol="false" tIns="50800" lIns="50800" bIns="50800" rIns="50800"/>
              <a:lstStyle/>
              <a:p>
                <a:pPr algn="ctr">
                  <a:lnSpc>
                    <a:spcPts val="2239"/>
                  </a:lnSpc>
                </a:pPr>
              </a:p>
            </p:txBody>
          </p:sp>
        </p:grpSp>
        <p:sp>
          <p:nvSpPr>
            <p:cNvPr name="Freeform 17" id="17"/>
            <p:cNvSpPr/>
            <p:nvPr/>
          </p:nvSpPr>
          <p:spPr>
            <a:xfrm flipH="false" flipV="false" rot="0">
              <a:off x="283922" y="283922"/>
              <a:ext cx="527200" cy="527200"/>
            </a:xfrm>
            <a:custGeom>
              <a:avLst/>
              <a:gdLst/>
              <a:ahLst/>
              <a:cxnLst/>
              <a:rect r="r" b="b" t="t" l="l"/>
              <a:pathLst>
                <a:path h="527200" w="527200">
                  <a:moveTo>
                    <a:pt x="0" y="0"/>
                  </a:moveTo>
                  <a:lnTo>
                    <a:pt x="527199" y="0"/>
                  </a:lnTo>
                  <a:lnTo>
                    <a:pt x="527199" y="527199"/>
                  </a:lnTo>
                  <a:lnTo>
                    <a:pt x="0" y="527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18" id="18"/>
          <p:cNvSpPr/>
          <p:nvPr/>
        </p:nvSpPr>
        <p:spPr>
          <a:xfrm flipH="false" flipV="false" rot="0">
            <a:off x="12105513" y="1028700"/>
            <a:ext cx="6182487" cy="8229600"/>
          </a:xfrm>
          <a:custGeom>
            <a:avLst/>
            <a:gdLst/>
            <a:ahLst/>
            <a:cxnLst/>
            <a:rect r="r" b="b" t="t" l="l"/>
            <a:pathLst>
              <a:path h="8229600" w="6182487">
                <a:moveTo>
                  <a:pt x="0" y="0"/>
                </a:moveTo>
                <a:lnTo>
                  <a:pt x="6182487" y="0"/>
                </a:lnTo>
                <a:lnTo>
                  <a:pt x="6182487" y="8229600"/>
                </a:lnTo>
                <a:lnTo>
                  <a:pt x="0" y="8229600"/>
                </a:lnTo>
                <a:lnTo>
                  <a:pt x="0" y="0"/>
                </a:lnTo>
                <a:close/>
              </a:path>
            </a:pathLst>
          </a:custGeom>
          <a:blipFill>
            <a:blip r:embed="rId4"/>
            <a:stretch>
              <a:fillRect l="0" t="0" r="0" b="0"/>
            </a:stretch>
          </a:blipFill>
        </p:spPr>
      </p:sp>
      <p:sp>
        <p:nvSpPr>
          <p:cNvPr name="TextBox 19" id="19"/>
          <p:cNvSpPr txBox="true"/>
          <p:nvPr/>
        </p:nvSpPr>
        <p:spPr>
          <a:xfrm rot="0">
            <a:off x="1028700" y="1346563"/>
            <a:ext cx="7941945" cy="88709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MỤC TIÊU NGHIÊN CỨU:</a:t>
            </a:r>
          </a:p>
        </p:txBody>
      </p:sp>
      <p:sp>
        <p:nvSpPr>
          <p:cNvPr name="TextBox 20" id="20"/>
          <p:cNvSpPr txBox="true"/>
          <p:nvPr/>
        </p:nvSpPr>
        <p:spPr>
          <a:xfrm rot="0">
            <a:off x="1028700" y="2357483"/>
            <a:ext cx="10236637" cy="2380615"/>
          </a:xfrm>
          <a:prstGeom prst="rect">
            <a:avLst/>
          </a:prstGeom>
        </p:spPr>
        <p:txBody>
          <a:bodyPr anchor="t" rtlCol="false" tIns="0" lIns="0" bIns="0" rIns="0">
            <a:spAutoFit/>
          </a:bodyPr>
          <a:lstStyle/>
          <a:p>
            <a:pPr algn="l">
              <a:lnSpc>
                <a:spcPts val="4759"/>
              </a:lnSpc>
            </a:pPr>
            <a:r>
              <a:rPr lang="en-US" sz="3399">
                <a:solidFill>
                  <a:srgbClr val="000000"/>
                </a:solidFill>
                <a:latin typeface="Noto Sans"/>
                <a:ea typeface="Noto Sans"/>
                <a:cs typeface="Noto Sans"/>
                <a:sym typeface="Noto Sans"/>
              </a:rPr>
              <a:t>Ng</a:t>
            </a:r>
            <a:r>
              <a:rPr lang="en-US" sz="3399">
                <a:solidFill>
                  <a:srgbClr val="000000"/>
                </a:solidFill>
                <a:latin typeface="Noto Sans"/>
                <a:ea typeface="Noto Sans"/>
                <a:cs typeface="Noto Sans"/>
                <a:sym typeface="Noto Sans"/>
              </a:rPr>
              <a:t>hiên cứu kiến trúc 4 tầng TCP/IP.</a:t>
            </a:r>
          </a:p>
          <a:p>
            <a:pPr algn="l">
              <a:lnSpc>
                <a:spcPts val="4759"/>
              </a:lnSpc>
            </a:pPr>
            <a:r>
              <a:rPr lang="en-US" sz="3399">
                <a:solidFill>
                  <a:srgbClr val="000000"/>
                </a:solidFill>
                <a:latin typeface="Noto Sans"/>
                <a:ea typeface="Noto Sans"/>
                <a:cs typeface="Noto Sans"/>
                <a:sym typeface="Noto Sans"/>
              </a:rPr>
              <a:t>Tìm hiểu quá trình đóng gói và tháo gỡ gói tin.</a:t>
            </a:r>
          </a:p>
          <a:p>
            <a:pPr algn="l">
              <a:lnSpc>
                <a:spcPts val="4759"/>
              </a:lnSpc>
            </a:pPr>
            <a:r>
              <a:rPr lang="en-US" sz="3399">
                <a:solidFill>
                  <a:srgbClr val="000000"/>
                </a:solidFill>
                <a:latin typeface="Noto Sans"/>
                <a:ea typeface="Noto Sans"/>
                <a:cs typeface="Noto Sans"/>
                <a:sym typeface="Noto Sans"/>
              </a:rPr>
              <a:t>So sánh Socket đồng bộ và bất đồng bộ (Proactor).</a:t>
            </a:r>
          </a:p>
          <a:p>
            <a:pPr algn="ctr">
              <a:lnSpc>
                <a:spcPts val="4759"/>
              </a:lnSpc>
            </a:pPr>
          </a:p>
        </p:txBody>
      </p:sp>
      <p:sp>
        <p:nvSpPr>
          <p:cNvPr name="TextBox 21" id="21"/>
          <p:cNvSpPr txBox="true"/>
          <p:nvPr/>
        </p:nvSpPr>
        <p:spPr>
          <a:xfrm rot="0">
            <a:off x="1028700" y="4537238"/>
            <a:ext cx="11961495" cy="2380615"/>
          </a:xfrm>
          <a:prstGeom prst="rect">
            <a:avLst/>
          </a:prstGeom>
        </p:spPr>
        <p:txBody>
          <a:bodyPr anchor="t" rtlCol="false" tIns="0" lIns="0" bIns="0" rIns="0">
            <a:spAutoFit/>
          </a:bodyPr>
          <a:lstStyle/>
          <a:p>
            <a:pPr algn="l">
              <a:lnSpc>
                <a:spcPts val="4759"/>
              </a:lnSpc>
            </a:pPr>
            <a:r>
              <a:rPr lang="en-US" sz="3399">
                <a:solidFill>
                  <a:srgbClr val="000000"/>
                </a:solidFill>
                <a:latin typeface="Noto Sans"/>
                <a:ea typeface="Noto Sans"/>
                <a:cs typeface="Noto Sans"/>
                <a:sym typeface="Noto Sans"/>
              </a:rPr>
              <a:t>Phát triển ứng dụng Windows bằng C++17.</a:t>
            </a:r>
          </a:p>
          <a:p>
            <a:pPr algn="l">
              <a:lnSpc>
                <a:spcPts val="4759"/>
              </a:lnSpc>
            </a:pPr>
            <a:r>
              <a:rPr lang="en-US" sz="3399">
                <a:solidFill>
                  <a:srgbClr val="000000"/>
                </a:solidFill>
                <a:latin typeface="Noto Sans"/>
                <a:ea typeface="Noto Sans"/>
                <a:cs typeface="Noto Sans"/>
                <a:sym typeface="Noto Sans"/>
              </a:rPr>
              <a:t>Sử dụng Asio (Standalone) cho lập trìn</a:t>
            </a:r>
            <a:r>
              <a:rPr lang="en-US" sz="3399">
                <a:solidFill>
                  <a:srgbClr val="000000"/>
                </a:solidFill>
                <a:latin typeface="Noto Sans"/>
                <a:ea typeface="Noto Sans"/>
                <a:cs typeface="Noto Sans"/>
                <a:sym typeface="Noto Sans"/>
              </a:rPr>
              <a:t>h mạng.</a:t>
            </a:r>
          </a:p>
          <a:p>
            <a:pPr algn="l">
              <a:lnSpc>
                <a:spcPts val="4759"/>
              </a:lnSpc>
            </a:pPr>
            <a:r>
              <a:rPr lang="en-US" sz="3399">
                <a:solidFill>
                  <a:srgbClr val="000000"/>
                </a:solidFill>
                <a:latin typeface="Noto Sans"/>
                <a:ea typeface="Noto Sans"/>
                <a:cs typeface="Noto Sans"/>
                <a:sym typeface="Noto Sans"/>
              </a:rPr>
              <a:t>Sử dụng Dear ImGui + GLFW/OpenGL3 xây dựng giao diện.</a:t>
            </a:r>
          </a:p>
          <a:p>
            <a:pPr algn="l">
              <a:lnSpc>
                <a:spcPts val="4759"/>
              </a:lnSpc>
            </a:pPr>
          </a:p>
        </p:txBody>
      </p:sp>
      <p:sp>
        <p:nvSpPr>
          <p:cNvPr name="TextBox 22" id="22"/>
          <p:cNvSpPr txBox="true"/>
          <p:nvPr/>
        </p:nvSpPr>
        <p:spPr>
          <a:xfrm rot="0">
            <a:off x="1028700" y="7041678"/>
            <a:ext cx="10089952" cy="2380615"/>
          </a:xfrm>
          <a:prstGeom prst="rect">
            <a:avLst/>
          </a:prstGeom>
        </p:spPr>
        <p:txBody>
          <a:bodyPr anchor="t" rtlCol="false" tIns="0" lIns="0" bIns="0" rIns="0">
            <a:spAutoFit/>
          </a:bodyPr>
          <a:lstStyle/>
          <a:p>
            <a:pPr algn="l">
              <a:lnSpc>
                <a:spcPts val="4759"/>
              </a:lnSpc>
            </a:pPr>
            <a:r>
              <a:rPr lang="en-US" sz="3399">
                <a:solidFill>
                  <a:srgbClr val="000000"/>
                </a:solidFill>
                <a:latin typeface="Noto Sans"/>
                <a:ea typeface="Noto Sans"/>
                <a:cs typeface="Noto Sans"/>
                <a:sym typeface="Noto Sans"/>
              </a:rPr>
              <a:t>Xây dựng ứng dụng Chat P2P hoàn chỉnh.</a:t>
            </a:r>
          </a:p>
          <a:p>
            <a:pPr algn="l">
              <a:lnSpc>
                <a:spcPts val="4759"/>
              </a:lnSpc>
            </a:pPr>
            <a:r>
              <a:rPr lang="en-US" sz="3399">
                <a:solidFill>
                  <a:srgbClr val="000000"/>
                </a:solidFill>
                <a:latin typeface="Noto Sans"/>
                <a:ea typeface="Noto Sans"/>
                <a:cs typeface="Noto Sans"/>
                <a:sym typeface="Noto Sans"/>
              </a:rPr>
              <a:t>Xử lý </a:t>
            </a:r>
            <a:r>
              <a:rPr lang="en-US" sz="3399">
                <a:solidFill>
                  <a:srgbClr val="000000"/>
                </a:solidFill>
                <a:latin typeface="Noto Sans"/>
                <a:ea typeface="Noto Sans"/>
                <a:cs typeface="Noto Sans"/>
                <a:sym typeface="Noto Sans"/>
              </a:rPr>
              <a:t>TCP Data Framing và hỗ trợ UTF-8 tiếng Việt.</a:t>
            </a:r>
          </a:p>
          <a:p>
            <a:pPr algn="l">
              <a:lnSpc>
                <a:spcPts val="4759"/>
              </a:lnSpc>
            </a:pPr>
            <a:r>
              <a:rPr lang="en-US" sz="3399">
                <a:solidFill>
                  <a:srgbClr val="000000"/>
                </a:solidFill>
                <a:latin typeface="Noto Sans"/>
                <a:ea typeface="Noto Sans"/>
                <a:cs typeface="Noto Sans"/>
                <a:sym typeface="Noto Sans"/>
              </a:rPr>
              <a:t>Tích hợp Copy, Auto-scroll, Hover và Emoji.</a:t>
            </a:r>
          </a:p>
          <a:p>
            <a:pPr algn="ctr">
              <a:lnSpc>
                <a:spcPts val="4759"/>
              </a:lnSpc>
            </a:pPr>
          </a:p>
        </p:txBody>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3224145" y="739448"/>
            <a:ext cx="3682746" cy="4114800"/>
          </a:xfrm>
          <a:custGeom>
            <a:avLst/>
            <a:gdLst/>
            <a:ahLst/>
            <a:cxnLst/>
            <a:rect r="r" b="b" t="t" l="l"/>
            <a:pathLst>
              <a:path h="4114800" w="3682746">
                <a:moveTo>
                  <a:pt x="0" y="0"/>
                </a:moveTo>
                <a:lnTo>
                  <a:pt x="3682746" y="0"/>
                </a:lnTo>
                <a:lnTo>
                  <a:pt x="368274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82944" y="102558"/>
            <a:ext cx="15156223" cy="88709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Đ</a:t>
            </a:r>
            <a:r>
              <a:rPr lang="en-US" sz="5199" b="true">
                <a:solidFill>
                  <a:srgbClr val="38B6FF"/>
                </a:solidFill>
                <a:latin typeface="Noto Sans Bold"/>
                <a:ea typeface="Noto Sans Bold"/>
                <a:cs typeface="Noto Sans Bold"/>
                <a:sym typeface="Noto Sans Bold"/>
              </a:rPr>
              <a:t>ỐI TƯỢNG VÀ PHẠM VI NGHIÊN CỨU</a:t>
            </a:r>
          </a:p>
        </p:txBody>
      </p:sp>
      <p:sp>
        <p:nvSpPr>
          <p:cNvPr name="TextBox 4" id="4"/>
          <p:cNvSpPr txBox="true"/>
          <p:nvPr/>
        </p:nvSpPr>
        <p:spPr>
          <a:xfrm rot="0">
            <a:off x="619831" y="2275522"/>
            <a:ext cx="12611655" cy="1780540"/>
          </a:xfrm>
          <a:prstGeom prst="rect">
            <a:avLst/>
          </a:prstGeom>
        </p:spPr>
        <p:txBody>
          <a:bodyPr anchor="t" rtlCol="false" tIns="0" lIns="0" bIns="0" rIns="0">
            <a:spAutoFit/>
          </a:bodyPr>
          <a:lstStyle/>
          <a:p>
            <a:pPr algn="l">
              <a:lnSpc>
                <a:spcPts val="4759"/>
              </a:lnSpc>
            </a:pPr>
            <a:r>
              <a:rPr lang="en-US" sz="3399" b="true">
                <a:solidFill>
                  <a:srgbClr val="000000"/>
                </a:solidFill>
                <a:latin typeface="Noto Sans Bold"/>
                <a:ea typeface="Noto Sans Bold"/>
                <a:cs typeface="Noto Sans Bold"/>
                <a:sym typeface="Noto Sans Bold"/>
              </a:rPr>
              <a:t>Đối tượng :</a:t>
            </a:r>
            <a:r>
              <a:rPr lang="en-US" sz="3399">
                <a:solidFill>
                  <a:srgbClr val="000000"/>
                </a:solidFill>
                <a:latin typeface="Noto Sans"/>
                <a:ea typeface="Noto Sans"/>
                <a:cs typeface="Noto Sans"/>
                <a:sym typeface="Noto Sans"/>
              </a:rPr>
              <a:t>đồ án tập trung vào tầng Giao vận với giao thức TCP, cơ chế quản lý vòng đời Socket, và các lỗ hổng bảo mật cấp phát bộ nhớ trong C++</a:t>
            </a:r>
          </a:p>
        </p:txBody>
      </p:sp>
      <p:sp>
        <p:nvSpPr>
          <p:cNvPr name="TextBox 5" id="5"/>
          <p:cNvSpPr txBox="true"/>
          <p:nvPr/>
        </p:nvSpPr>
        <p:spPr>
          <a:xfrm rot="0">
            <a:off x="619831" y="5341930"/>
            <a:ext cx="17157081" cy="2380615"/>
          </a:xfrm>
          <a:prstGeom prst="rect">
            <a:avLst/>
          </a:prstGeom>
        </p:spPr>
        <p:txBody>
          <a:bodyPr anchor="t" rtlCol="false" tIns="0" lIns="0" bIns="0" rIns="0">
            <a:spAutoFit/>
          </a:bodyPr>
          <a:lstStyle/>
          <a:p>
            <a:pPr algn="l">
              <a:lnSpc>
                <a:spcPts val="4759"/>
              </a:lnSpc>
            </a:pPr>
            <a:r>
              <a:rPr lang="en-US" sz="3399" b="true">
                <a:solidFill>
                  <a:srgbClr val="000000"/>
                </a:solidFill>
                <a:latin typeface="Noto Sans Bold"/>
                <a:ea typeface="Noto Sans Bold"/>
                <a:cs typeface="Noto Sans Bold"/>
                <a:sym typeface="Noto Sans Bold"/>
              </a:rPr>
              <a:t>Phạm vi nghiên cứu : </a:t>
            </a:r>
            <a:r>
              <a:rPr lang="en-US" sz="3399">
                <a:solidFill>
                  <a:srgbClr val="000000"/>
                </a:solidFill>
                <a:latin typeface="Noto Sans"/>
                <a:ea typeface="Noto Sans"/>
                <a:cs typeface="Noto Sans"/>
                <a:sym typeface="Noto Sans"/>
              </a:rPr>
              <a:t>trong vùng giới hạn  Ứng dụng chạy trên nền tảng hệ điều hành Windows (Win32), biên dịch bằng MinGW-w64. Về mặt kiến trúc mạng, dự án thử nghiệm kết nối P2P thuần túy thông qua địa chỉ IP trực tiếp (LAN hoặc WAN qua NAT) mà không sử dụng các kỹ thuật xuyên NAT phức tạp như STUN/TURN/ICE. </a:t>
            </a:r>
          </a:p>
        </p:txBody>
      </p:sp>
    </p:spTree>
  </p:cSld>
  <p:clrMapOvr>
    <a:masterClrMapping/>
  </p:clrMapOvr>
  <p:transition spd="slow">
    <p:cover dir="l"/>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598083" y="3751580"/>
            <a:ext cx="17091834" cy="5506720"/>
          </a:xfrm>
          <a:prstGeom prst="rect">
            <a:avLst/>
          </a:prstGeom>
        </p:spPr>
        <p:txBody>
          <a:bodyPr anchor="t" rtlCol="false" tIns="0" lIns="0" bIns="0" rIns="0">
            <a:spAutoFit/>
          </a:bodyPr>
          <a:lstStyle/>
          <a:p>
            <a:pPr algn="just">
              <a:lnSpc>
                <a:spcPts val="7279"/>
              </a:lnSpc>
            </a:pPr>
            <a:r>
              <a:rPr lang="en-US" sz="5199" b="true">
                <a:solidFill>
                  <a:srgbClr val="000000"/>
                </a:solidFill>
                <a:latin typeface="Noto Sans Bold"/>
                <a:ea typeface="Noto Sans Bold"/>
                <a:cs typeface="Noto Sans Bold"/>
                <a:sym typeface="Noto Sans Bold"/>
              </a:rPr>
              <a:t>1.1. Mô </a:t>
            </a:r>
            <a:r>
              <a:rPr lang="en-US" b="true" sz="5199">
                <a:solidFill>
                  <a:srgbClr val="000000"/>
                </a:solidFill>
                <a:latin typeface="Noto Sans Bold"/>
                <a:ea typeface="Noto Sans Bold"/>
                <a:cs typeface="Noto Sans Bold"/>
                <a:sym typeface="Noto Sans Bold"/>
              </a:rPr>
              <a:t>hình tham chiếu TCP/IP và Lựa chọn giao thức Giao vận</a:t>
            </a:r>
          </a:p>
          <a:p>
            <a:pPr algn="just">
              <a:lnSpc>
                <a:spcPts val="7279"/>
              </a:lnSpc>
            </a:pPr>
            <a:r>
              <a:rPr lang="en-US" b="true" sz="5199">
                <a:solidFill>
                  <a:srgbClr val="000000"/>
                </a:solidFill>
                <a:latin typeface="Noto Sans Bold"/>
                <a:ea typeface="Noto Sans Bold"/>
                <a:cs typeface="Noto Sans Bold"/>
                <a:sym typeface="Noto Sans Bold"/>
              </a:rPr>
              <a:t>1.2. Hạn chế của Socket truyền thống và Sự vượt trội của Thư viện Asio</a:t>
            </a:r>
          </a:p>
          <a:p>
            <a:pPr algn="just">
              <a:lnSpc>
                <a:spcPts val="7279"/>
              </a:lnSpc>
            </a:pPr>
            <a:r>
              <a:rPr lang="en-US" b="true" sz="5199">
                <a:solidFill>
                  <a:srgbClr val="000000"/>
                </a:solidFill>
                <a:latin typeface="Noto Sans Bold"/>
                <a:ea typeface="Noto Sans Bold"/>
                <a:cs typeface="Noto Sans Bold"/>
                <a:sym typeface="Noto Sans Bold"/>
              </a:rPr>
              <a:t>1.3. Phân tích Thư viện Giao diện (Dear ImGui)</a:t>
            </a:r>
          </a:p>
          <a:p>
            <a:pPr algn="just">
              <a:lnSpc>
                <a:spcPts val="7279"/>
              </a:lnSpc>
            </a:pPr>
          </a:p>
        </p:txBody>
      </p:sp>
      <p:sp>
        <p:nvSpPr>
          <p:cNvPr name="TextBox 3" id="3"/>
          <p:cNvSpPr txBox="true"/>
          <p:nvPr/>
        </p:nvSpPr>
        <p:spPr>
          <a:xfrm rot="0">
            <a:off x="173988" y="215644"/>
            <a:ext cx="18114012" cy="273494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CHƯƠNG 1. CƠ SỞ LÝ THUYẾT VÀ KIẾN </a:t>
            </a:r>
            <a:r>
              <a:rPr lang="en-US" b="true" sz="5199">
                <a:solidFill>
                  <a:srgbClr val="38B6FF"/>
                </a:solidFill>
                <a:latin typeface="Noto Sans Bold"/>
                <a:ea typeface="Noto Sans Bold"/>
                <a:cs typeface="Noto Sans Bold"/>
                <a:sym typeface="Noto Sans Bold"/>
              </a:rPr>
              <a:t>TRÚC CÔNG NGHỆ TRỌNG TÂM</a:t>
            </a:r>
          </a:p>
          <a:p>
            <a:pPr algn="ctr">
              <a:lnSpc>
                <a:spcPts val="7279"/>
              </a:lnSpc>
            </a:pPr>
          </a:p>
        </p:txBody>
      </p:sp>
      <p:sp>
        <p:nvSpPr>
          <p:cNvPr name="Freeform 4" id="4"/>
          <p:cNvSpPr/>
          <p:nvPr/>
        </p:nvSpPr>
        <p:spPr>
          <a:xfrm flipH="false" flipV="false" rot="0">
            <a:off x="5573394" y="2493389"/>
            <a:ext cx="7315200" cy="914400"/>
          </a:xfrm>
          <a:custGeom>
            <a:avLst/>
            <a:gdLst/>
            <a:ahLst/>
            <a:cxnLst/>
            <a:rect r="r" b="b" t="t" l="l"/>
            <a:pathLst>
              <a:path h="914400" w="7315200">
                <a:moveTo>
                  <a:pt x="0" y="0"/>
                </a:moveTo>
                <a:lnTo>
                  <a:pt x="7315200" y="0"/>
                </a:lnTo>
                <a:lnTo>
                  <a:pt x="7315200" y="914400"/>
                </a:lnTo>
                <a:lnTo>
                  <a:pt x="0" y="914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304478" y="283743"/>
            <a:ext cx="17679043" cy="2734946"/>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1.1. Mô </a:t>
            </a:r>
            <a:r>
              <a:rPr lang="en-US" b="true" sz="5199">
                <a:solidFill>
                  <a:srgbClr val="38B6FF"/>
                </a:solidFill>
                <a:latin typeface="Noto Sans Bold"/>
                <a:ea typeface="Noto Sans Bold"/>
                <a:cs typeface="Noto Sans Bold"/>
                <a:sym typeface="Noto Sans Bold"/>
              </a:rPr>
              <a:t>hình tham chiếu TCP/IP và Lựa chọn giao thức Giao vận</a:t>
            </a:r>
          </a:p>
          <a:p>
            <a:pPr algn="ctr">
              <a:lnSpc>
                <a:spcPts val="7279"/>
              </a:lnSpc>
            </a:pPr>
          </a:p>
        </p:txBody>
      </p:sp>
      <p:sp>
        <p:nvSpPr>
          <p:cNvPr name="Freeform 3" id="3"/>
          <p:cNvSpPr/>
          <p:nvPr/>
        </p:nvSpPr>
        <p:spPr>
          <a:xfrm flipH="false" flipV="false" rot="0">
            <a:off x="5612187" y="2414078"/>
            <a:ext cx="7315200" cy="512064"/>
          </a:xfrm>
          <a:custGeom>
            <a:avLst/>
            <a:gdLst/>
            <a:ahLst/>
            <a:cxnLst/>
            <a:rect r="r" b="b" t="t" l="l"/>
            <a:pathLst>
              <a:path h="512064" w="7315200">
                <a:moveTo>
                  <a:pt x="0" y="0"/>
                </a:moveTo>
                <a:lnTo>
                  <a:pt x="7315200" y="0"/>
                </a:lnTo>
                <a:lnTo>
                  <a:pt x="7315200" y="512064"/>
                </a:lnTo>
                <a:lnTo>
                  <a:pt x="0" y="512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80598" y="3558557"/>
            <a:ext cx="17526804" cy="53809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Noto Sans"/>
                <a:ea typeface="Noto Sans"/>
                <a:cs typeface="Noto Sans"/>
                <a:sym typeface="Noto Sans"/>
              </a:rPr>
              <a:t>Mô hình </a:t>
            </a:r>
            <a:r>
              <a:rPr lang="en-US" sz="3399">
                <a:solidFill>
                  <a:srgbClr val="000000"/>
                </a:solidFill>
                <a:latin typeface="Noto Sans"/>
                <a:ea typeface="Noto Sans"/>
                <a:cs typeface="Noto Sans"/>
                <a:sym typeface="Noto Sans"/>
              </a:rPr>
              <a:t>TCP/IP: Gồm 4 tầng, trong đó tầng Giao vận chịu trách nhiệm truyền dữ liệu giữa các tiến trình.</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UDP: Tốc độ nhanh nhưng không đảm bảo dữ liệu đầy đủ và đúng thứ tự</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TCP: Đảm bảo truyền dữ liệu tin cậy, đầy đủ và đúng thứ tự.</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Lý do chọn TCP: </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Phù hợp với ứng dụng Chat, tránh mất hoặc sai thứ tự tin nhắn.</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ACK: Xác nhận dữ liệu đã nhận.</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3-Way Handshake: Thiết lập kết nối trước khi truyền dữ liệu.</a:t>
            </a:r>
          </a:p>
          <a:p>
            <a:pPr algn="l">
              <a:lnSpc>
                <a:spcPts val="4759"/>
              </a:lnSpc>
            </a:pPr>
          </a:p>
        </p:txBody>
      </p:sp>
    </p:spTree>
  </p:cSld>
  <p:clrMapOvr>
    <a:masterClrMapping/>
  </p:clrMapOvr>
  <p:transition spd="slow">
    <p:cover dir="l"/>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9529955" y="1417381"/>
            <a:ext cx="8188452" cy="8229600"/>
          </a:xfrm>
          <a:custGeom>
            <a:avLst/>
            <a:gdLst/>
            <a:ahLst/>
            <a:cxnLst/>
            <a:rect r="r" b="b" t="t" l="l"/>
            <a:pathLst>
              <a:path h="8229600" w="8188452">
                <a:moveTo>
                  <a:pt x="0" y="0"/>
                </a:moveTo>
                <a:lnTo>
                  <a:pt x="8188452" y="0"/>
                </a:lnTo>
                <a:lnTo>
                  <a:pt x="8188452" y="8229600"/>
                </a:lnTo>
                <a:lnTo>
                  <a:pt x="0" y="8229600"/>
                </a:lnTo>
                <a:lnTo>
                  <a:pt x="0" y="0"/>
                </a:lnTo>
                <a:close/>
              </a:path>
            </a:pathLst>
          </a:custGeom>
          <a:blipFill>
            <a:blip r:embed="rId2"/>
            <a:stretch>
              <a:fillRect l="0" t="0" r="0" b="0"/>
            </a:stretch>
          </a:blipFill>
        </p:spPr>
      </p:sp>
      <p:sp>
        <p:nvSpPr>
          <p:cNvPr name="TextBox 3" id="3"/>
          <p:cNvSpPr txBox="true"/>
          <p:nvPr/>
        </p:nvSpPr>
        <p:spPr>
          <a:xfrm rot="0">
            <a:off x="0" y="2283"/>
            <a:ext cx="17548553" cy="273494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1.2. Hạn chế của Socket truyền t</a:t>
            </a:r>
            <a:r>
              <a:rPr lang="en-US" b="true" sz="5199">
                <a:solidFill>
                  <a:srgbClr val="38B6FF"/>
                </a:solidFill>
                <a:latin typeface="Noto Sans Bold"/>
                <a:ea typeface="Noto Sans Bold"/>
                <a:cs typeface="Noto Sans Bold"/>
                <a:sym typeface="Noto Sans Bold"/>
              </a:rPr>
              <a:t>hống và Sự vượt trội của Thư viện Asio</a:t>
            </a:r>
          </a:p>
          <a:p>
            <a:pPr algn="ctr">
              <a:lnSpc>
                <a:spcPts val="7279"/>
              </a:lnSpc>
            </a:pPr>
          </a:p>
        </p:txBody>
      </p:sp>
      <p:sp>
        <p:nvSpPr>
          <p:cNvPr name="TextBox 4" id="4"/>
          <p:cNvSpPr txBox="true"/>
          <p:nvPr/>
        </p:nvSpPr>
        <p:spPr>
          <a:xfrm rot="0">
            <a:off x="0" y="1939354"/>
            <a:ext cx="8437722" cy="580390"/>
          </a:xfrm>
          <a:prstGeom prst="rect">
            <a:avLst/>
          </a:prstGeom>
        </p:spPr>
        <p:txBody>
          <a:bodyPr anchor="t" rtlCol="false" tIns="0" lIns="0" bIns="0" rIns="0">
            <a:spAutoFit/>
          </a:bodyPr>
          <a:lstStyle/>
          <a:p>
            <a:pPr algn="ctr">
              <a:lnSpc>
                <a:spcPts val="4759"/>
              </a:lnSpc>
            </a:pPr>
            <a:r>
              <a:rPr lang="en-US" b="true" sz="3399">
                <a:solidFill>
                  <a:srgbClr val="000000"/>
                </a:solidFill>
                <a:latin typeface="Noto Sans Bold"/>
                <a:ea typeface="Noto Sans Bold"/>
                <a:cs typeface="Noto Sans Bold"/>
                <a:sym typeface="Noto Sans Bold"/>
              </a:rPr>
              <a:t>1.2.1. Nút t</a:t>
            </a:r>
            <a:r>
              <a:rPr lang="en-US" b="true" sz="3399">
                <a:solidFill>
                  <a:srgbClr val="000000"/>
                </a:solidFill>
                <a:latin typeface="Noto Sans Bold"/>
                <a:ea typeface="Noto Sans Bold"/>
                <a:cs typeface="Noto Sans Bold"/>
                <a:sym typeface="Noto Sans Bold"/>
              </a:rPr>
              <a:t>hắt cổ chai của Blocking I/O</a:t>
            </a:r>
          </a:p>
        </p:txBody>
      </p:sp>
      <p:sp>
        <p:nvSpPr>
          <p:cNvPr name="TextBox 5" id="5"/>
          <p:cNvSpPr txBox="true"/>
          <p:nvPr/>
        </p:nvSpPr>
        <p:spPr>
          <a:xfrm rot="0">
            <a:off x="459938" y="2670553"/>
            <a:ext cx="8109704" cy="29806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Noto Sans"/>
                <a:ea typeface="Noto Sans"/>
                <a:cs typeface="Noto Sans"/>
                <a:sym typeface="Noto Sans"/>
              </a:rPr>
              <a:t>Blocking I/O → Vấn đề</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recv() chờ dữ liệu → </a:t>
            </a:r>
            <a:r>
              <a:rPr lang="en-US" sz="3399">
                <a:solidFill>
                  <a:srgbClr val="000000"/>
                </a:solidFill>
                <a:latin typeface="Noto Sans"/>
                <a:ea typeface="Noto Sans"/>
                <a:cs typeface="Noto Sans"/>
                <a:sym typeface="Noto Sans"/>
              </a:rPr>
              <a:t>Thread bị Sleep.</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Chặn GUI → ứng dụng treo.</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Multithreading → tốn RAM/CPU.</a:t>
            </a:r>
          </a:p>
          <a:p>
            <a:pPr algn="l">
              <a:lnSpc>
                <a:spcPts val="4759"/>
              </a:lnSpc>
            </a:pPr>
          </a:p>
        </p:txBody>
      </p:sp>
      <p:sp>
        <p:nvSpPr>
          <p:cNvPr name="TextBox 6" id="6"/>
          <p:cNvSpPr txBox="true"/>
          <p:nvPr/>
        </p:nvSpPr>
        <p:spPr>
          <a:xfrm rot="0">
            <a:off x="0" y="5294309"/>
            <a:ext cx="9144000" cy="1180465"/>
          </a:xfrm>
          <a:prstGeom prst="rect">
            <a:avLst/>
          </a:prstGeom>
        </p:spPr>
        <p:txBody>
          <a:bodyPr anchor="t" rtlCol="false" tIns="0" lIns="0" bIns="0" rIns="0">
            <a:spAutoFit/>
          </a:bodyPr>
          <a:lstStyle/>
          <a:p>
            <a:pPr algn="ctr">
              <a:lnSpc>
                <a:spcPts val="4759"/>
              </a:lnSpc>
            </a:pPr>
            <a:r>
              <a:rPr lang="en-US" sz="3399" b="true">
                <a:solidFill>
                  <a:srgbClr val="000000"/>
                </a:solidFill>
                <a:latin typeface="Noto Sans Bold"/>
                <a:ea typeface="Noto Sans Bold"/>
                <a:cs typeface="Noto Sans Bold"/>
                <a:sym typeface="Noto Sans Bold"/>
              </a:rPr>
              <a:t>1.2.2.</a:t>
            </a:r>
            <a:r>
              <a:rPr lang="en-US" b="true" sz="3399">
                <a:solidFill>
                  <a:srgbClr val="000000"/>
                </a:solidFill>
                <a:latin typeface="Noto Sans Bold"/>
                <a:ea typeface="Noto Sans Bold"/>
                <a:cs typeface="Noto Sans Bold"/>
                <a:sym typeface="Noto Sans Bold"/>
              </a:rPr>
              <a:t> Kiến trúc Proactor của thư viện Asio</a:t>
            </a:r>
          </a:p>
          <a:p>
            <a:pPr algn="ctr">
              <a:lnSpc>
                <a:spcPts val="4759"/>
              </a:lnSpc>
            </a:pPr>
          </a:p>
        </p:txBody>
      </p:sp>
      <p:sp>
        <p:nvSpPr>
          <p:cNvPr name="TextBox 7" id="7"/>
          <p:cNvSpPr txBox="true"/>
          <p:nvPr/>
        </p:nvSpPr>
        <p:spPr>
          <a:xfrm rot="0">
            <a:off x="492978" y="6146623"/>
            <a:ext cx="8185785" cy="298069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Noto Sans"/>
                <a:ea typeface="Noto Sans"/>
                <a:cs typeface="Noto Sans"/>
                <a:sym typeface="Noto Sans"/>
              </a:rPr>
              <a:t>Asio Proactor → Giải pháp</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Sử dụng async_read_until + Callback.</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T</a:t>
            </a:r>
            <a:r>
              <a:rPr lang="en-US" sz="3399">
                <a:solidFill>
                  <a:srgbClr val="000000"/>
                </a:solidFill>
                <a:latin typeface="Noto Sans"/>
                <a:ea typeface="Noto Sans"/>
                <a:cs typeface="Noto Sans"/>
                <a:sym typeface="Noto Sans"/>
              </a:rPr>
              <a:t>ận dụng IOCP trên Windows.</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Không chặn Thread giao diện.</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Mạng và GUI hoạt động song song.</a:t>
            </a:r>
          </a:p>
        </p:txBody>
      </p:sp>
    </p:spTree>
  </p:cSld>
  <p:clrMapOvr>
    <a:masterClrMapping/>
  </p:clrMapOvr>
  <p:transition spd="slow">
    <p:cover dir="l"/>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3670610" y="1612943"/>
            <a:ext cx="3088309" cy="7417336"/>
          </a:xfrm>
          <a:custGeom>
            <a:avLst/>
            <a:gdLst/>
            <a:ahLst/>
            <a:cxnLst/>
            <a:rect r="r" b="b" t="t" l="l"/>
            <a:pathLst>
              <a:path h="7417336" w="3088309">
                <a:moveTo>
                  <a:pt x="0" y="0"/>
                </a:moveTo>
                <a:lnTo>
                  <a:pt x="3088309" y="0"/>
                </a:lnTo>
                <a:lnTo>
                  <a:pt x="3088309" y="7417337"/>
                </a:lnTo>
                <a:lnTo>
                  <a:pt x="0" y="74173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72565" y="75565"/>
            <a:ext cx="15142012" cy="1811020"/>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1.3. Phân tích </a:t>
            </a:r>
            <a:r>
              <a:rPr lang="en-US" b="true" sz="5199">
                <a:solidFill>
                  <a:srgbClr val="38B6FF"/>
                </a:solidFill>
                <a:latin typeface="Noto Sans Bold"/>
                <a:ea typeface="Noto Sans Bold"/>
                <a:cs typeface="Noto Sans Bold"/>
                <a:sym typeface="Noto Sans Bold"/>
              </a:rPr>
              <a:t>Thư viện Giao diện (Dear ImGui)</a:t>
            </a:r>
          </a:p>
          <a:p>
            <a:pPr algn="ctr">
              <a:lnSpc>
                <a:spcPts val="7279"/>
              </a:lnSpc>
            </a:pPr>
          </a:p>
        </p:txBody>
      </p:sp>
      <p:sp>
        <p:nvSpPr>
          <p:cNvPr name="TextBox 4" id="4"/>
          <p:cNvSpPr txBox="true"/>
          <p:nvPr/>
        </p:nvSpPr>
        <p:spPr>
          <a:xfrm rot="0">
            <a:off x="572565" y="2162810"/>
            <a:ext cx="9290447" cy="2980690"/>
          </a:xfrm>
          <a:prstGeom prst="rect">
            <a:avLst/>
          </a:prstGeom>
        </p:spPr>
        <p:txBody>
          <a:bodyPr anchor="t" rtlCol="false" tIns="0" lIns="0" bIns="0" rIns="0">
            <a:spAutoFit/>
          </a:bodyPr>
          <a:lstStyle/>
          <a:p>
            <a:pPr algn="l">
              <a:lnSpc>
                <a:spcPts val="4759"/>
              </a:lnSpc>
            </a:pPr>
            <a:r>
              <a:rPr lang="en-US" sz="3399" b="true">
                <a:solidFill>
                  <a:srgbClr val="000000"/>
                </a:solidFill>
                <a:latin typeface="Noto Sans Bold"/>
                <a:ea typeface="Noto Sans Bold"/>
                <a:cs typeface="Noto Sans Bold"/>
                <a:sym typeface="Noto Sans Bold"/>
              </a:rPr>
              <a:t>Retained-Mode:</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GUI cổ điển: Windows For</a:t>
            </a:r>
            <a:r>
              <a:rPr lang="en-US" sz="3399">
                <a:solidFill>
                  <a:srgbClr val="000000"/>
                </a:solidFill>
                <a:latin typeface="Noto Sans"/>
                <a:ea typeface="Noto Sans"/>
                <a:cs typeface="Noto Sans"/>
                <a:sym typeface="Noto Sans"/>
              </a:rPr>
              <a:t>ms, Qt.</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Hệ thống lưu trạng thái các đối tượng.</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Ứng dụng lớn → phức tạp, tốn tài nguyên.</a:t>
            </a:r>
          </a:p>
          <a:p>
            <a:pPr algn="l">
              <a:lnSpc>
                <a:spcPts val="4759"/>
              </a:lnSpc>
            </a:pPr>
          </a:p>
        </p:txBody>
      </p:sp>
      <p:sp>
        <p:nvSpPr>
          <p:cNvPr name="TextBox 5" id="5"/>
          <p:cNvSpPr txBox="true"/>
          <p:nvPr/>
        </p:nvSpPr>
        <p:spPr>
          <a:xfrm rot="0">
            <a:off x="572565" y="5254936"/>
            <a:ext cx="13117592" cy="3580765"/>
          </a:xfrm>
          <a:prstGeom prst="rect">
            <a:avLst/>
          </a:prstGeom>
        </p:spPr>
        <p:txBody>
          <a:bodyPr anchor="t" rtlCol="false" tIns="0" lIns="0" bIns="0" rIns="0">
            <a:spAutoFit/>
          </a:bodyPr>
          <a:lstStyle/>
          <a:p>
            <a:pPr algn="l">
              <a:lnSpc>
                <a:spcPts val="4759"/>
              </a:lnSpc>
            </a:pPr>
            <a:r>
              <a:rPr lang="en-US" sz="3399" b="true">
                <a:solidFill>
                  <a:srgbClr val="000000"/>
                </a:solidFill>
                <a:latin typeface="Noto Sans Bold"/>
                <a:ea typeface="Noto Sans Bold"/>
                <a:cs typeface="Noto Sans Bold"/>
                <a:sym typeface="Noto Sans Bold"/>
              </a:rPr>
              <a:t>Immediate-Mode – Dear ImGui:</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Giao diện được cập n</a:t>
            </a:r>
            <a:r>
              <a:rPr lang="en-US" sz="3399">
                <a:solidFill>
                  <a:srgbClr val="000000"/>
                </a:solidFill>
                <a:latin typeface="Noto Sans"/>
                <a:ea typeface="Noto Sans"/>
                <a:cs typeface="Noto Sans"/>
                <a:sym typeface="Noto Sans"/>
              </a:rPr>
              <a:t>hật mỗi vòng lặp Render.</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Dựa trên trạng thái hiện tại của ứng dụng.</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Nhanh, linh hoạt, phù hợp ứng dụng Chat.</a:t>
            </a:r>
          </a:p>
          <a:p>
            <a:pPr algn="l" marL="734059" indent="-367030" lvl="1">
              <a:lnSpc>
                <a:spcPts val="4759"/>
              </a:lnSpc>
              <a:buFont typeface="Arial"/>
              <a:buChar char="•"/>
            </a:pPr>
            <a:r>
              <a:rPr lang="en-US" sz="3399">
                <a:solidFill>
                  <a:srgbClr val="000000"/>
                </a:solidFill>
                <a:latin typeface="Noto Sans"/>
                <a:ea typeface="Noto Sans"/>
                <a:cs typeface="Noto Sans"/>
                <a:sym typeface="Noto Sans"/>
              </a:rPr>
              <a:t>Kết hợp GLFW + OpenGL3 để xử lý cửa sổ, sự kiện và hiển thị.</a:t>
            </a:r>
          </a:p>
          <a:p>
            <a:pPr algn="l">
              <a:lnSpc>
                <a:spcPts val="4759"/>
              </a:lnSpc>
            </a:pPr>
          </a:p>
        </p:txBody>
      </p:sp>
    </p:spTree>
  </p:cSld>
  <p:clrMapOvr>
    <a:masterClrMapping/>
  </p:clrMapOvr>
  <p:transition spd="slow">
    <p:cover dir="l"/>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9874883" y="1391901"/>
            <a:ext cx="7982712" cy="8229600"/>
          </a:xfrm>
          <a:custGeom>
            <a:avLst/>
            <a:gdLst/>
            <a:ahLst/>
            <a:cxnLst/>
            <a:rect r="r" b="b" t="t" l="l"/>
            <a:pathLst>
              <a:path h="8229600" w="7982712">
                <a:moveTo>
                  <a:pt x="0" y="0"/>
                </a:moveTo>
                <a:lnTo>
                  <a:pt x="7982712" y="0"/>
                </a:lnTo>
                <a:lnTo>
                  <a:pt x="7982712" y="8229600"/>
                </a:lnTo>
                <a:lnTo>
                  <a:pt x="0" y="8229600"/>
                </a:lnTo>
                <a:lnTo>
                  <a:pt x="0" y="0"/>
                </a:lnTo>
                <a:close/>
              </a:path>
            </a:pathLst>
          </a:custGeom>
          <a:blipFill>
            <a:blip r:embed="rId2"/>
            <a:stretch>
              <a:fillRect l="0" t="0" r="0" b="0"/>
            </a:stretch>
          </a:blipFill>
        </p:spPr>
      </p:sp>
      <p:sp>
        <p:nvSpPr>
          <p:cNvPr name="TextBox 3" id="3"/>
          <p:cNvSpPr txBox="true"/>
          <p:nvPr/>
        </p:nvSpPr>
        <p:spPr>
          <a:xfrm rot="0">
            <a:off x="3809047" y="75565"/>
            <a:ext cx="10669906" cy="887095"/>
          </a:xfrm>
          <a:prstGeom prst="rect">
            <a:avLst/>
          </a:prstGeom>
        </p:spPr>
        <p:txBody>
          <a:bodyPr anchor="t" rtlCol="false" tIns="0" lIns="0" bIns="0" rIns="0">
            <a:spAutoFit/>
          </a:bodyPr>
          <a:lstStyle/>
          <a:p>
            <a:pPr algn="ctr">
              <a:lnSpc>
                <a:spcPts val="7279"/>
              </a:lnSpc>
            </a:pPr>
            <a:r>
              <a:rPr lang="en-US" b="true" sz="5199">
                <a:solidFill>
                  <a:srgbClr val="38B6FF"/>
                </a:solidFill>
                <a:latin typeface="Noto Sans Bold"/>
                <a:ea typeface="Noto Sans Bold"/>
                <a:cs typeface="Noto Sans Bold"/>
                <a:sym typeface="Noto Sans Bold"/>
              </a:rPr>
              <a:t> CHƯƠNG 2.KẾT QUẢ ĐẠT ĐƯỢC </a:t>
            </a:r>
          </a:p>
        </p:txBody>
      </p:sp>
      <p:sp>
        <p:nvSpPr>
          <p:cNvPr name="TextBox 4" id="4"/>
          <p:cNvSpPr txBox="true"/>
          <p:nvPr/>
        </p:nvSpPr>
        <p:spPr>
          <a:xfrm rot="0">
            <a:off x="1028700" y="3266440"/>
            <a:ext cx="14459991" cy="3658870"/>
          </a:xfrm>
          <a:prstGeom prst="rect">
            <a:avLst/>
          </a:prstGeom>
        </p:spPr>
        <p:txBody>
          <a:bodyPr anchor="t" rtlCol="false" tIns="0" lIns="0" bIns="0" rIns="0">
            <a:spAutoFit/>
          </a:bodyPr>
          <a:lstStyle/>
          <a:p>
            <a:pPr algn="just">
              <a:lnSpc>
                <a:spcPts val="7279"/>
              </a:lnSpc>
            </a:pPr>
            <a:r>
              <a:rPr lang="en-US" sz="5199" b="true">
                <a:solidFill>
                  <a:srgbClr val="000000"/>
                </a:solidFill>
                <a:latin typeface="Noto Sans Bold"/>
                <a:ea typeface="Noto Sans Bold"/>
                <a:cs typeface="Noto Sans Bold"/>
                <a:sym typeface="Noto Sans Bold"/>
              </a:rPr>
              <a:t>2.1: VỀ MẶT KIẾN THỨC PHẦN MỀM</a:t>
            </a:r>
          </a:p>
          <a:p>
            <a:pPr algn="just">
              <a:lnSpc>
                <a:spcPts val="7279"/>
              </a:lnSpc>
            </a:pPr>
            <a:r>
              <a:rPr lang="en-US" sz="5199" b="true">
                <a:solidFill>
                  <a:srgbClr val="000000"/>
                </a:solidFill>
                <a:latin typeface="Noto Sans Bold"/>
                <a:ea typeface="Noto Sans Bold"/>
                <a:cs typeface="Noto Sans Bold"/>
                <a:sym typeface="Noto Sans Bold"/>
              </a:rPr>
              <a:t>2.2:VỀ MẶT GIAO DIỆN NGƯỜI DÙNG</a:t>
            </a:r>
          </a:p>
          <a:p>
            <a:pPr algn="just">
              <a:lnSpc>
                <a:spcPts val="7279"/>
              </a:lnSpc>
            </a:pPr>
            <a:r>
              <a:rPr lang="en-US" sz="5199" b="true">
                <a:solidFill>
                  <a:srgbClr val="000000"/>
                </a:solidFill>
                <a:latin typeface="Noto Sans Bold"/>
                <a:ea typeface="Noto Sans Bold"/>
                <a:cs typeface="Noto Sans Bold"/>
                <a:sym typeface="Noto Sans Bold"/>
              </a:rPr>
              <a:t>2.3:VỀ MẶT GIAO THỨC VÀO BẢO MẬT</a:t>
            </a:r>
          </a:p>
          <a:p>
            <a:pPr algn="just">
              <a:lnSpc>
                <a:spcPts val="7279"/>
              </a:lnSpc>
            </a:pPr>
            <a:r>
              <a:rPr lang="en-US" sz="5199" b="true">
                <a:solidFill>
                  <a:srgbClr val="000000"/>
                </a:solidFill>
                <a:latin typeface="Noto Sans Bold"/>
                <a:ea typeface="Noto Sans Bold"/>
                <a:cs typeface="Noto Sans Bold"/>
                <a:sym typeface="Noto Sans Bold"/>
              </a:rPr>
              <a:t>2.4:KẾT QUẢ KIỂM THỬ</a:t>
            </a:r>
          </a:p>
        </p:txBody>
      </p:sp>
    </p:spTree>
  </p:cSld>
  <p:clrMapOvr>
    <a:masterClrMapping/>
  </p:clrMapOvr>
  <p:transition spd="slow">
    <p:cover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3498975" y="856942"/>
            <a:ext cx="2592324" cy="8229600"/>
          </a:xfrm>
          <a:custGeom>
            <a:avLst/>
            <a:gdLst/>
            <a:ahLst/>
            <a:cxnLst/>
            <a:rect r="r" b="b" t="t" l="l"/>
            <a:pathLst>
              <a:path h="8229600" w="2592324">
                <a:moveTo>
                  <a:pt x="0" y="0"/>
                </a:moveTo>
                <a:lnTo>
                  <a:pt x="2592324" y="0"/>
                </a:lnTo>
                <a:lnTo>
                  <a:pt x="2592324"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933450"/>
            <a:ext cx="11420475" cy="88709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2.1: VỀ MẶT KIẾN THỨC PHẦN MỀM</a:t>
            </a:r>
          </a:p>
        </p:txBody>
      </p:sp>
      <p:sp>
        <p:nvSpPr>
          <p:cNvPr name="TextBox 4" id="4"/>
          <p:cNvSpPr txBox="true"/>
          <p:nvPr/>
        </p:nvSpPr>
        <p:spPr>
          <a:xfrm rot="0">
            <a:off x="791616" y="2379980"/>
            <a:ext cx="11894643" cy="5441315"/>
          </a:xfrm>
          <a:prstGeom prst="rect">
            <a:avLst/>
          </a:prstGeom>
        </p:spPr>
        <p:txBody>
          <a:bodyPr anchor="t" rtlCol="false" tIns="0" lIns="0" bIns="0" rIns="0">
            <a:spAutoFit/>
          </a:bodyPr>
          <a:lstStyle/>
          <a:p>
            <a:pPr algn="l" marL="949964" indent="-474982" lvl="1">
              <a:lnSpc>
                <a:spcPts val="6160"/>
              </a:lnSpc>
              <a:buFont typeface="Arial"/>
              <a:buChar char="•"/>
            </a:pPr>
            <a:r>
              <a:rPr lang="en-US" sz="4400">
                <a:solidFill>
                  <a:srgbClr val="000000"/>
                </a:solidFill>
                <a:latin typeface="Noto Sans"/>
                <a:ea typeface="Noto Sans"/>
                <a:cs typeface="Noto Sans"/>
                <a:sym typeface="Noto Sans"/>
              </a:rPr>
              <a:t>Chương trình được thiết kế với cơ chế mạng mạnh mẽ, sử dụng TCP Socket và thư viện Asio. </a:t>
            </a:r>
          </a:p>
          <a:p>
            <a:pPr algn="l" marL="949964" indent="-474982" lvl="1">
              <a:lnSpc>
                <a:spcPts val="6160"/>
              </a:lnSpc>
              <a:buFont typeface="Arial"/>
              <a:buChar char="•"/>
            </a:pPr>
            <a:r>
              <a:rPr lang="en-US" sz="4400">
                <a:solidFill>
                  <a:srgbClr val="000000"/>
                </a:solidFill>
                <a:latin typeface="Noto Sans"/>
                <a:ea typeface="Noto Sans"/>
                <a:cs typeface="Noto Sans"/>
                <a:sym typeface="Noto Sans"/>
              </a:rPr>
              <a:t>Vượt qua những hạn chế của ứng dụng console đơn giản, phần mềm hoàn toàn độc lập luồng mạng và luồng giao diện, giúp tốc độ phản hồi đạt mức tối đa.</a:t>
            </a:r>
          </a:p>
        </p:txBody>
      </p:sp>
    </p:spTree>
  </p:cSld>
  <p:clrMapOvr>
    <a:masterClrMapping/>
  </p:clrMapOvr>
  <p:transition spd="slow">
    <p:cover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0622009" y="5801059"/>
            <a:ext cx="3643997" cy="4336937"/>
          </a:xfrm>
          <a:custGeom>
            <a:avLst/>
            <a:gdLst/>
            <a:ahLst/>
            <a:cxnLst/>
            <a:rect r="r" b="b" t="t" l="l"/>
            <a:pathLst>
              <a:path h="4336937" w="3643997">
                <a:moveTo>
                  <a:pt x="0" y="0"/>
                </a:moveTo>
                <a:lnTo>
                  <a:pt x="3643997" y="0"/>
                </a:lnTo>
                <a:lnTo>
                  <a:pt x="3643997" y="4336938"/>
                </a:lnTo>
                <a:lnTo>
                  <a:pt x="0" y="4336938"/>
                </a:lnTo>
                <a:lnTo>
                  <a:pt x="0" y="0"/>
                </a:lnTo>
                <a:close/>
              </a:path>
            </a:pathLst>
          </a:custGeom>
          <a:blipFill>
            <a:blip r:embed="rId2"/>
            <a:stretch>
              <a:fillRect l="0" t="0" r="0" b="0"/>
            </a:stretch>
          </a:blipFill>
        </p:spPr>
      </p:sp>
      <p:sp>
        <p:nvSpPr>
          <p:cNvPr name="Freeform 3" id="3"/>
          <p:cNvSpPr/>
          <p:nvPr/>
        </p:nvSpPr>
        <p:spPr>
          <a:xfrm flipH="false" flipV="false" rot="0">
            <a:off x="14266006" y="5746504"/>
            <a:ext cx="3768934" cy="4446048"/>
          </a:xfrm>
          <a:custGeom>
            <a:avLst/>
            <a:gdLst/>
            <a:ahLst/>
            <a:cxnLst/>
            <a:rect r="r" b="b" t="t" l="l"/>
            <a:pathLst>
              <a:path h="4446048" w="3768934">
                <a:moveTo>
                  <a:pt x="0" y="0"/>
                </a:moveTo>
                <a:lnTo>
                  <a:pt x="3768934" y="0"/>
                </a:lnTo>
                <a:lnTo>
                  <a:pt x="3768934" y="4446048"/>
                </a:lnTo>
                <a:lnTo>
                  <a:pt x="0" y="4446048"/>
                </a:lnTo>
                <a:lnTo>
                  <a:pt x="0" y="0"/>
                </a:lnTo>
                <a:close/>
              </a:path>
            </a:pathLst>
          </a:custGeom>
          <a:blipFill>
            <a:blip r:embed="rId3"/>
            <a:stretch>
              <a:fillRect l="0" t="0" r="0" b="0"/>
            </a:stretch>
          </a:blipFill>
        </p:spPr>
      </p:sp>
      <p:sp>
        <p:nvSpPr>
          <p:cNvPr name="Freeform 4" id="4"/>
          <p:cNvSpPr/>
          <p:nvPr/>
        </p:nvSpPr>
        <p:spPr>
          <a:xfrm flipH="false" flipV="false" rot="0">
            <a:off x="10622009" y="1735972"/>
            <a:ext cx="7412931" cy="4065087"/>
          </a:xfrm>
          <a:custGeom>
            <a:avLst/>
            <a:gdLst/>
            <a:ahLst/>
            <a:cxnLst/>
            <a:rect r="r" b="b" t="t" l="l"/>
            <a:pathLst>
              <a:path h="4065087" w="7412931">
                <a:moveTo>
                  <a:pt x="0" y="0"/>
                </a:moveTo>
                <a:lnTo>
                  <a:pt x="7412931" y="0"/>
                </a:lnTo>
                <a:lnTo>
                  <a:pt x="7412931" y="4065087"/>
                </a:lnTo>
                <a:lnTo>
                  <a:pt x="0" y="4065087"/>
                </a:lnTo>
                <a:lnTo>
                  <a:pt x="0" y="0"/>
                </a:lnTo>
                <a:close/>
              </a:path>
            </a:pathLst>
          </a:custGeom>
          <a:blipFill>
            <a:blip r:embed="rId4"/>
            <a:stretch>
              <a:fillRect l="0" t="-3492" r="0" b="-3492"/>
            </a:stretch>
          </a:blipFill>
        </p:spPr>
      </p:sp>
      <p:sp>
        <p:nvSpPr>
          <p:cNvPr name="TextBox 5" id="5"/>
          <p:cNvSpPr txBox="true"/>
          <p:nvPr/>
        </p:nvSpPr>
        <p:spPr>
          <a:xfrm rot="0">
            <a:off x="1334269" y="765402"/>
            <a:ext cx="12444188" cy="88709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2.2:VỀ MẶ</a:t>
            </a:r>
            <a:r>
              <a:rPr lang="en-US" b="true" sz="5199">
                <a:solidFill>
                  <a:srgbClr val="38B6FF"/>
                </a:solidFill>
                <a:latin typeface="Noto Sans Bold"/>
                <a:ea typeface="Noto Sans Bold"/>
                <a:cs typeface="Noto Sans Bold"/>
                <a:sym typeface="Noto Sans Bold"/>
              </a:rPr>
              <a:t>T GIAO DIỆN NGƯỜI DÙNG</a:t>
            </a:r>
          </a:p>
        </p:txBody>
      </p:sp>
      <p:sp>
        <p:nvSpPr>
          <p:cNvPr name="TextBox 6" id="6"/>
          <p:cNvSpPr txBox="true"/>
          <p:nvPr/>
        </p:nvSpPr>
        <p:spPr>
          <a:xfrm rot="0">
            <a:off x="1161653" y="1846580"/>
            <a:ext cx="8562731" cy="8565516"/>
          </a:xfrm>
          <a:prstGeom prst="rect">
            <a:avLst/>
          </a:prstGeom>
        </p:spPr>
        <p:txBody>
          <a:bodyPr anchor="t" rtlCol="false" tIns="0" lIns="0" bIns="0" rIns="0">
            <a:spAutoFit/>
          </a:bodyPr>
          <a:lstStyle/>
          <a:p>
            <a:pPr algn="l" marL="949954" indent="-474977" lvl="1">
              <a:lnSpc>
                <a:spcPts val="6159"/>
              </a:lnSpc>
              <a:buFont typeface="Arial"/>
              <a:buChar char="•"/>
            </a:pPr>
            <a:r>
              <a:rPr lang="en-US" sz="4399">
                <a:solidFill>
                  <a:srgbClr val="000000"/>
                </a:solidFill>
                <a:latin typeface="Noto Sans"/>
                <a:ea typeface="Noto Sans"/>
                <a:cs typeface="Noto Sans"/>
                <a:sym typeface="Noto Sans"/>
              </a:rPr>
              <a:t>Giao diện render mượt </a:t>
            </a:r>
            <a:r>
              <a:rPr lang="en-US" sz="4399">
                <a:solidFill>
                  <a:srgbClr val="000000"/>
                </a:solidFill>
                <a:latin typeface="Noto Sans"/>
                <a:ea typeface="Noto Sans"/>
                <a:cs typeface="Noto Sans"/>
                <a:sym typeface="Noto Sans"/>
              </a:rPr>
              <a:t>mà ở 60FPS.</a:t>
            </a:r>
          </a:p>
          <a:p>
            <a:pPr algn="l" marL="949954" indent="-474977" lvl="1">
              <a:lnSpc>
                <a:spcPts val="6159"/>
              </a:lnSpc>
              <a:buFont typeface="Arial"/>
              <a:buChar char="•"/>
            </a:pPr>
            <a:r>
              <a:rPr lang="en-US" sz="4399">
                <a:solidFill>
                  <a:srgbClr val="000000"/>
                </a:solidFill>
                <a:latin typeface="Noto Sans"/>
                <a:ea typeface="Noto Sans"/>
                <a:cs typeface="Noto Sans"/>
                <a:sym typeface="Noto Sans"/>
              </a:rPr>
              <a:t>Kết nối P2P: Nhập IP/Port trực quan, hỗ trợ bắt lỗi.</a:t>
            </a:r>
          </a:p>
          <a:p>
            <a:pPr algn="l" marL="949954" indent="-474977" lvl="1">
              <a:lnSpc>
                <a:spcPts val="6159"/>
              </a:lnSpc>
              <a:buFont typeface="Arial"/>
              <a:buChar char="•"/>
            </a:pPr>
            <a:r>
              <a:rPr lang="en-US" sz="4399">
                <a:solidFill>
                  <a:srgbClr val="000000"/>
                </a:solidFill>
                <a:latin typeface="Noto Sans"/>
                <a:ea typeface="Noto Sans"/>
                <a:cs typeface="Noto Sans"/>
                <a:sym typeface="Noto Sans"/>
              </a:rPr>
              <a:t>Chat văn bản: Hỗ trợ 100% tiếng Việt có dấu (UTF-8).</a:t>
            </a:r>
          </a:p>
          <a:p>
            <a:pPr algn="l" marL="949954" indent="-474977" lvl="1">
              <a:lnSpc>
                <a:spcPts val="6159"/>
              </a:lnSpc>
              <a:buFont typeface="Arial"/>
              <a:buChar char="•"/>
            </a:pPr>
            <a:r>
              <a:rPr lang="en-US" sz="4399">
                <a:solidFill>
                  <a:srgbClr val="000000"/>
                </a:solidFill>
                <a:latin typeface="Noto Sans"/>
                <a:ea typeface="Noto Sans"/>
                <a:cs typeface="Noto Sans"/>
                <a:sym typeface="Noto Sans"/>
              </a:rPr>
              <a:t>Phân biệt tin gửi và tin nhận rõ ràng.</a:t>
            </a:r>
          </a:p>
          <a:p>
            <a:pPr algn="l" marL="949954" indent="-474977" lvl="1">
              <a:lnSpc>
                <a:spcPts val="6159"/>
              </a:lnSpc>
              <a:buFont typeface="Arial"/>
              <a:buChar char="•"/>
            </a:pPr>
            <a:r>
              <a:rPr lang="en-US" sz="4399">
                <a:solidFill>
                  <a:srgbClr val="000000"/>
                </a:solidFill>
                <a:latin typeface="Noto Sans"/>
                <a:ea typeface="Noto Sans"/>
                <a:cs typeface="Noto Sans"/>
                <a:sym typeface="Noto Sans"/>
              </a:rPr>
              <a:t>Tiện ích: Copy clipboard, Auto-scroll, Emoji.</a:t>
            </a:r>
          </a:p>
          <a:p>
            <a:pPr algn="l">
              <a:lnSpc>
                <a:spcPts val="6159"/>
              </a:lnSpc>
            </a:pPr>
          </a:p>
        </p:txBody>
      </p:sp>
    </p:spTree>
  </p:cSld>
  <p:clrMapOvr>
    <a:masterClrMapping/>
  </p:clrMapOvr>
  <p:transition spd="slow">
    <p:cover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2698903" y="3229561"/>
            <a:ext cx="5450066" cy="4114800"/>
          </a:xfrm>
          <a:custGeom>
            <a:avLst/>
            <a:gdLst/>
            <a:ahLst/>
            <a:cxnLst/>
            <a:rect r="r" b="b" t="t" l="l"/>
            <a:pathLst>
              <a:path h="4114800" w="5450066">
                <a:moveTo>
                  <a:pt x="0" y="0"/>
                </a:moveTo>
                <a:lnTo>
                  <a:pt x="5450067" y="0"/>
                </a:lnTo>
                <a:lnTo>
                  <a:pt x="545006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33450"/>
            <a:ext cx="12241649" cy="88709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2.3:VỀ MẶ</a:t>
            </a:r>
            <a:r>
              <a:rPr lang="en-US" b="true" sz="5199">
                <a:solidFill>
                  <a:srgbClr val="38B6FF"/>
                </a:solidFill>
                <a:latin typeface="Noto Sans Bold"/>
                <a:ea typeface="Noto Sans Bold"/>
                <a:cs typeface="Noto Sans Bold"/>
                <a:sym typeface="Noto Sans Bold"/>
              </a:rPr>
              <a:t>T GIAO THỨC VÀO BẢO MẬT</a:t>
            </a:r>
          </a:p>
        </p:txBody>
      </p:sp>
      <p:sp>
        <p:nvSpPr>
          <p:cNvPr name="TextBox 4" id="4"/>
          <p:cNvSpPr txBox="true"/>
          <p:nvPr/>
        </p:nvSpPr>
        <p:spPr>
          <a:xfrm rot="0">
            <a:off x="1028700" y="2054811"/>
            <a:ext cx="12994311" cy="7003416"/>
          </a:xfrm>
          <a:prstGeom prst="rect">
            <a:avLst/>
          </a:prstGeom>
        </p:spPr>
        <p:txBody>
          <a:bodyPr anchor="t" rtlCol="false" tIns="0" lIns="0" bIns="0" rIns="0">
            <a:spAutoFit/>
          </a:bodyPr>
          <a:lstStyle/>
          <a:p>
            <a:pPr algn="l" marL="949954" indent="-474977" lvl="1">
              <a:lnSpc>
                <a:spcPts val="6159"/>
              </a:lnSpc>
              <a:buFont typeface="Arial"/>
              <a:buChar char="•"/>
            </a:pPr>
            <a:r>
              <a:rPr lang="en-US" sz="4399">
                <a:solidFill>
                  <a:srgbClr val="000000"/>
                </a:solidFill>
                <a:latin typeface="Noto Sans"/>
                <a:ea typeface="Noto Sans"/>
                <a:cs typeface="Noto Sans"/>
                <a:sym typeface="Noto Sans"/>
              </a:rPr>
              <a:t>Đã xây dựng thành công bộ giao thức Data Framing phân tách gói tin ở tầng ứng dụng bằng ký tự \n. </a:t>
            </a:r>
          </a:p>
          <a:p>
            <a:pPr algn="l" marL="949954" indent="-474977" lvl="1">
              <a:lnSpc>
                <a:spcPts val="6159"/>
              </a:lnSpc>
              <a:buFont typeface="Arial"/>
              <a:buChar char="•"/>
            </a:pPr>
            <a:r>
              <a:rPr lang="en-US" sz="4399">
                <a:solidFill>
                  <a:srgbClr val="000000"/>
                </a:solidFill>
                <a:latin typeface="Noto Sans"/>
                <a:ea typeface="Noto Sans"/>
                <a:cs typeface="Noto Sans"/>
                <a:sym typeface="Noto Sans"/>
              </a:rPr>
              <a:t>Hỗ trợ các Header chuẩn như [HANDSHAKE], [MSG], [ACK] giúp các Client hiểu nhau một cách tuyệt đối.</a:t>
            </a:r>
          </a:p>
          <a:p>
            <a:pPr algn="l" marL="949954" indent="-474977" lvl="1">
              <a:lnSpc>
                <a:spcPts val="6159"/>
              </a:lnSpc>
              <a:buFont typeface="Arial"/>
              <a:buChar char="•"/>
            </a:pPr>
            <a:r>
              <a:rPr lang="en-US" sz="4399">
                <a:solidFill>
                  <a:srgbClr val="000000"/>
                </a:solidFill>
                <a:latin typeface="Noto Sans"/>
                <a:ea typeface="Noto Sans"/>
                <a:cs typeface="Noto Sans"/>
                <a:sym typeface="Noto Sans"/>
              </a:rPr>
              <a:t>Các lỗi tràn bộ đệm (Buffer Overflow) được kiểm soát gắt gao bằng std::string và các hàm an toàn strcpy_s, strcat_s.</a:t>
            </a:r>
          </a:p>
        </p:txBody>
      </p:sp>
    </p:spTree>
  </p:cSld>
  <p:clrMapOvr>
    <a:masterClrMapping/>
  </p:clrMapOvr>
  <p:transition spd="slow">
    <p:cover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3162591" y="2583032"/>
            <a:ext cx="4493516" cy="5120935"/>
          </a:xfrm>
          <a:custGeom>
            <a:avLst/>
            <a:gdLst/>
            <a:ahLst/>
            <a:cxnLst/>
            <a:rect r="r" b="b" t="t" l="l"/>
            <a:pathLst>
              <a:path h="5120935" w="4493516">
                <a:moveTo>
                  <a:pt x="0" y="0"/>
                </a:moveTo>
                <a:lnTo>
                  <a:pt x="4493516" y="0"/>
                </a:lnTo>
                <a:lnTo>
                  <a:pt x="4493516" y="5120936"/>
                </a:lnTo>
                <a:lnTo>
                  <a:pt x="0" y="5120936"/>
                </a:lnTo>
                <a:lnTo>
                  <a:pt x="0" y="0"/>
                </a:lnTo>
                <a:close/>
              </a:path>
            </a:pathLst>
          </a:custGeom>
          <a:blipFill>
            <a:blip r:embed="rId2"/>
            <a:stretch>
              <a:fillRect l="0" t="0" r="0" b="0"/>
            </a:stretch>
          </a:blipFill>
        </p:spPr>
      </p:sp>
      <p:sp>
        <p:nvSpPr>
          <p:cNvPr name="Freeform 3" id="3"/>
          <p:cNvSpPr/>
          <p:nvPr/>
        </p:nvSpPr>
        <p:spPr>
          <a:xfrm flipH="false" flipV="false" rot="0">
            <a:off x="8512205" y="2583032"/>
            <a:ext cx="4650386" cy="5120935"/>
          </a:xfrm>
          <a:custGeom>
            <a:avLst/>
            <a:gdLst/>
            <a:ahLst/>
            <a:cxnLst/>
            <a:rect r="r" b="b" t="t" l="l"/>
            <a:pathLst>
              <a:path h="5120935" w="4650386">
                <a:moveTo>
                  <a:pt x="0" y="0"/>
                </a:moveTo>
                <a:lnTo>
                  <a:pt x="4650386" y="0"/>
                </a:lnTo>
                <a:lnTo>
                  <a:pt x="4650386" y="5120936"/>
                </a:lnTo>
                <a:lnTo>
                  <a:pt x="0" y="5120936"/>
                </a:lnTo>
                <a:lnTo>
                  <a:pt x="0" y="0"/>
                </a:lnTo>
                <a:close/>
              </a:path>
            </a:pathLst>
          </a:custGeom>
          <a:blipFill>
            <a:blip r:embed="rId3"/>
            <a:stretch>
              <a:fillRect l="0" t="-7740" r="0" b="0"/>
            </a:stretch>
          </a:blipFill>
        </p:spPr>
      </p:sp>
      <p:sp>
        <p:nvSpPr>
          <p:cNvPr name="TextBox 4" id="4"/>
          <p:cNvSpPr txBox="true"/>
          <p:nvPr/>
        </p:nvSpPr>
        <p:spPr>
          <a:xfrm rot="0">
            <a:off x="5145944" y="537527"/>
            <a:ext cx="7474148" cy="88709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2.4:KẾ</a:t>
            </a:r>
            <a:r>
              <a:rPr lang="en-US" b="true" sz="5199">
                <a:solidFill>
                  <a:srgbClr val="38B6FF"/>
                </a:solidFill>
                <a:latin typeface="Noto Sans Bold"/>
                <a:ea typeface="Noto Sans Bold"/>
                <a:cs typeface="Noto Sans Bold"/>
                <a:sym typeface="Noto Sans Bold"/>
              </a:rPr>
              <a:t>T QUẢ KIỂM THỬ</a:t>
            </a:r>
          </a:p>
        </p:txBody>
      </p:sp>
      <p:sp>
        <p:nvSpPr>
          <p:cNvPr name="TextBox 5" id="5"/>
          <p:cNvSpPr txBox="true"/>
          <p:nvPr/>
        </p:nvSpPr>
        <p:spPr>
          <a:xfrm rot="0">
            <a:off x="0" y="1751492"/>
            <a:ext cx="8338949" cy="10127615"/>
          </a:xfrm>
          <a:prstGeom prst="rect">
            <a:avLst/>
          </a:prstGeom>
        </p:spPr>
        <p:txBody>
          <a:bodyPr anchor="t" rtlCol="false" tIns="0" lIns="0" bIns="0" rIns="0">
            <a:spAutoFit/>
          </a:bodyPr>
          <a:lstStyle/>
          <a:p>
            <a:pPr algn="l" marL="949961" indent="-474980" lvl="1">
              <a:lnSpc>
                <a:spcPts val="6160"/>
              </a:lnSpc>
              <a:buFont typeface="Arial"/>
              <a:buChar char="•"/>
            </a:pPr>
            <a:r>
              <a:rPr lang="en-US" sz="4400">
                <a:solidFill>
                  <a:srgbClr val="000000"/>
                </a:solidFill>
                <a:latin typeface="Noto Sans"/>
                <a:ea typeface="Noto Sans"/>
                <a:cs typeface="Noto Sans"/>
                <a:sym typeface="Noto Sans"/>
              </a:rPr>
              <a:t>10.000 ký tự: K</a:t>
            </a:r>
            <a:r>
              <a:rPr lang="en-US" sz="4400">
                <a:solidFill>
                  <a:srgbClr val="000000"/>
                </a:solidFill>
                <a:latin typeface="Noto Sans"/>
                <a:ea typeface="Noto Sans"/>
                <a:cs typeface="Noto Sans"/>
                <a:sym typeface="Noto Sans"/>
              </a:rPr>
              <a:t>hông xảy ra Crash.</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Rút mạng đột ngột: Phát hiện và ngắt kết nối an toàn.</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Spam 100 tin/giây: Không xảy ra Data Race nhờ Mutex.</a:t>
            </a:r>
          </a:p>
          <a:p>
            <a:pPr algn="l">
              <a:lnSpc>
                <a:spcPts val="6160"/>
              </a:lnSpc>
            </a:pPr>
          </a:p>
          <a:p>
            <a:pPr algn="l">
              <a:lnSpc>
                <a:spcPts val="6160"/>
              </a:lnSpc>
            </a:pPr>
          </a:p>
          <a:p>
            <a:pPr algn="l">
              <a:lnSpc>
                <a:spcPts val="6160"/>
              </a:lnSpc>
            </a:pPr>
          </a:p>
          <a:p>
            <a:pPr algn="l">
              <a:lnSpc>
                <a:spcPts val="6160"/>
              </a:lnSpc>
            </a:pPr>
          </a:p>
          <a:p>
            <a:pPr algn="l">
              <a:lnSpc>
                <a:spcPts val="6160"/>
              </a:lnSpc>
            </a:pPr>
          </a:p>
        </p:txBody>
      </p:sp>
    </p:spTree>
  </p:cSld>
  <p:clrMapOvr>
    <a:masterClrMapping/>
  </p:clrMapOvr>
  <p:transition spd="slow">
    <p:cover dir="l"/>
  </p:transition>
</p:sld>
</file>

<file path=ppt/slides/slide14.xml><?xml version="1.0" encoding="utf-8"?>
<p:sld xmlns:p="http://schemas.openxmlformats.org/presentationml/2006/main" xmlns:a="http://schemas.openxmlformats.org/drawingml/2006/main">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652644" y="805705"/>
            <a:ext cx="15504676" cy="1811020"/>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CHƯƠNG 3. KHÓ KHĂN GẶP PHẢI</a:t>
            </a:r>
            <a:r>
              <a:rPr lang="en-US" b="true" sz="5199">
                <a:solidFill>
                  <a:srgbClr val="38B6FF"/>
                </a:solidFill>
                <a:latin typeface="Noto Sans Bold"/>
                <a:ea typeface="Noto Sans Bold"/>
                <a:cs typeface="Noto Sans Bold"/>
                <a:sym typeface="Noto Sans Bold"/>
              </a:rPr>
              <a:t> VÀ GIẢI PHÁP</a:t>
            </a:r>
          </a:p>
          <a:p>
            <a:pPr algn="ctr">
              <a:lnSpc>
                <a:spcPts val="7279"/>
              </a:lnSpc>
            </a:pPr>
          </a:p>
        </p:txBody>
      </p:sp>
      <p:sp>
        <p:nvSpPr>
          <p:cNvPr name="TextBox 3" id="3"/>
          <p:cNvSpPr txBox="true"/>
          <p:nvPr/>
        </p:nvSpPr>
        <p:spPr>
          <a:xfrm rot="0">
            <a:off x="832334" y="2531001"/>
            <a:ext cx="15492412" cy="4660265"/>
          </a:xfrm>
          <a:prstGeom prst="rect">
            <a:avLst/>
          </a:prstGeom>
        </p:spPr>
        <p:txBody>
          <a:bodyPr anchor="t" rtlCol="false" tIns="0" lIns="0" bIns="0" rIns="0">
            <a:spAutoFit/>
          </a:bodyPr>
          <a:lstStyle/>
          <a:p>
            <a:pPr algn="l">
              <a:lnSpc>
                <a:spcPts val="6160"/>
              </a:lnSpc>
            </a:pPr>
            <a:r>
              <a:rPr lang="en-US" sz="4400" b="true">
                <a:solidFill>
                  <a:srgbClr val="000000"/>
                </a:solidFill>
                <a:latin typeface="Noto Sans Bold"/>
                <a:ea typeface="Noto Sans Bold"/>
                <a:cs typeface="Noto Sans Bold"/>
                <a:sym typeface="Noto Sans Bold"/>
              </a:rPr>
              <a:t>3.1. Lỗi Font chữ tiếng Việt (Mojibake &amp; UTF-8 Encoding)</a:t>
            </a:r>
          </a:p>
          <a:p>
            <a:pPr algn="l">
              <a:lnSpc>
                <a:spcPts val="6160"/>
              </a:lnSpc>
            </a:pPr>
            <a:r>
              <a:rPr lang="en-US" sz="4400" b="true">
                <a:solidFill>
                  <a:srgbClr val="000000"/>
                </a:solidFill>
                <a:latin typeface="Noto Sans Bold"/>
                <a:ea typeface="Noto Sans Bold"/>
                <a:cs typeface="Noto Sans Bold"/>
                <a:sym typeface="Noto Sans Bold"/>
              </a:rPr>
              <a:t>3.2. Quản lý trạng thái tin nhắn (Sent/Delivered/Read)</a:t>
            </a:r>
          </a:p>
          <a:p>
            <a:pPr algn="l">
              <a:lnSpc>
                <a:spcPts val="6160"/>
              </a:lnSpc>
            </a:pPr>
            <a:r>
              <a:rPr lang="en-US" sz="4400" b="true">
                <a:solidFill>
                  <a:srgbClr val="000000"/>
                </a:solidFill>
                <a:latin typeface="Noto Sans Bold"/>
                <a:ea typeface="Noto Sans Bold"/>
                <a:cs typeface="Noto Sans Bold"/>
                <a:sym typeface="Noto Sans Bold"/>
              </a:rPr>
              <a:t>3.3. Đụng Độ Đa Luồng (Data Race &amp; Race Condition)</a:t>
            </a:r>
          </a:p>
          <a:p>
            <a:pPr algn="l">
              <a:lnSpc>
                <a:spcPts val="6160"/>
              </a:lnSpc>
            </a:pPr>
            <a:r>
              <a:rPr lang="en-US" sz="4400" b="true">
                <a:solidFill>
                  <a:srgbClr val="000000"/>
                </a:solidFill>
                <a:latin typeface="Noto Sans Bold"/>
                <a:ea typeface="Noto Sans Bold"/>
                <a:cs typeface="Noto Sans Bold"/>
                <a:sym typeface="Noto Sans Bold"/>
              </a:rPr>
              <a:t>3.4. Tràn Bộ Đệm (Buffer Overflow Attack)</a:t>
            </a:r>
          </a:p>
          <a:p>
            <a:pPr algn="l">
              <a:lnSpc>
                <a:spcPts val="6160"/>
              </a:lnSpc>
            </a:pPr>
            <a:r>
              <a:rPr lang="en-US" sz="4400" b="true">
                <a:solidFill>
                  <a:srgbClr val="000000"/>
                </a:solidFill>
                <a:latin typeface="Noto Sans Bold"/>
                <a:ea typeface="Noto Sans Bold"/>
                <a:cs typeface="Noto Sans Bold"/>
                <a:sym typeface="Noto Sans Bold"/>
              </a:rPr>
              <a:t>3.5. Kẹt tiến trình khóa file Build (File Lock Exception)</a:t>
            </a:r>
          </a:p>
          <a:p>
            <a:pPr algn="l">
              <a:lnSpc>
                <a:spcPts val="6160"/>
              </a:lnSpc>
            </a:pPr>
          </a:p>
        </p:txBody>
      </p:sp>
    </p:spTree>
  </p:cSld>
  <p:clrMapOvr>
    <a:masterClrMapping/>
  </p:clrMapOvr>
  <p:transition spd="slow">
    <p:cover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1564722" y="941352"/>
            <a:ext cx="5884164" cy="8229600"/>
          </a:xfrm>
          <a:custGeom>
            <a:avLst/>
            <a:gdLst/>
            <a:ahLst/>
            <a:cxnLst/>
            <a:rect r="r" b="b" t="t" l="l"/>
            <a:pathLst>
              <a:path h="8229600" w="5884164">
                <a:moveTo>
                  <a:pt x="0" y="0"/>
                </a:moveTo>
                <a:lnTo>
                  <a:pt x="5884164" y="0"/>
                </a:lnTo>
                <a:lnTo>
                  <a:pt x="5884164"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75565"/>
            <a:ext cx="16526376" cy="1811020"/>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3.1. Lỗi Font c</a:t>
            </a:r>
            <a:r>
              <a:rPr lang="en-US" b="true" sz="5199">
                <a:solidFill>
                  <a:srgbClr val="38B6FF"/>
                </a:solidFill>
                <a:latin typeface="Noto Sans Bold"/>
                <a:ea typeface="Noto Sans Bold"/>
                <a:cs typeface="Noto Sans Bold"/>
                <a:sym typeface="Noto Sans Bold"/>
              </a:rPr>
              <a:t>hữ tiếng Việt (Mojibake &amp; UTF-8 Encoding)</a:t>
            </a:r>
          </a:p>
        </p:txBody>
      </p:sp>
      <p:sp>
        <p:nvSpPr>
          <p:cNvPr name="TextBox 4" id="4"/>
          <p:cNvSpPr txBox="true"/>
          <p:nvPr/>
        </p:nvSpPr>
        <p:spPr>
          <a:xfrm rot="0">
            <a:off x="410052" y="2226026"/>
            <a:ext cx="3026926"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Noto Sans Bold"/>
                <a:ea typeface="Noto Sans Bold"/>
                <a:cs typeface="Noto Sans Bold"/>
                <a:sym typeface="Noto Sans Bold"/>
              </a:rPr>
              <a:t>KHÓ KHĂN</a:t>
            </a:r>
          </a:p>
        </p:txBody>
      </p:sp>
      <p:sp>
        <p:nvSpPr>
          <p:cNvPr name="TextBox 5" id="5"/>
          <p:cNvSpPr txBox="true"/>
          <p:nvPr/>
        </p:nvSpPr>
        <p:spPr>
          <a:xfrm rot="0">
            <a:off x="481013" y="5220687"/>
            <a:ext cx="2885004"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Noto Sans Bold"/>
                <a:ea typeface="Noto Sans Bold"/>
                <a:cs typeface="Noto Sans Bold"/>
                <a:sym typeface="Noto Sans Bold"/>
              </a:rPr>
              <a:t>GIẢI PHÁP</a:t>
            </a:r>
          </a:p>
        </p:txBody>
      </p:sp>
      <p:sp>
        <p:nvSpPr>
          <p:cNvPr name="TextBox 6" id="6"/>
          <p:cNvSpPr txBox="true"/>
          <p:nvPr/>
        </p:nvSpPr>
        <p:spPr>
          <a:xfrm rot="0">
            <a:off x="197082" y="3323941"/>
            <a:ext cx="14612596" cy="2317116"/>
          </a:xfrm>
          <a:prstGeom prst="rect">
            <a:avLst/>
          </a:prstGeom>
        </p:spPr>
        <p:txBody>
          <a:bodyPr anchor="t" rtlCol="false" tIns="0" lIns="0" bIns="0" rIns="0">
            <a:spAutoFit/>
          </a:bodyPr>
          <a:lstStyle/>
          <a:p>
            <a:pPr algn="l" marL="949954" indent="-474977" lvl="1">
              <a:lnSpc>
                <a:spcPts val="6159"/>
              </a:lnSpc>
              <a:buFont typeface="Arial"/>
              <a:buChar char="•"/>
            </a:pPr>
            <a:r>
              <a:rPr lang="en-US" sz="4399">
                <a:solidFill>
                  <a:srgbClr val="000000"/>
                </a:solidFill>
                <a:latin typeface="Noto Sans"/>
                <a:ea typeface="Noto Sans"/>
                <a:cs typeface="Noto Sans"/>
                <a:sym typeface="Noto Sans"/>
              </a:rPr>
              <a:t> T</a:t>
            </a:r>
            <a:r>
              <a:rPr lang="en-US" sz="4399">
                <a:solidFill>
                  <a:srgbClr val="000000"/>
                </a:solidFill>
                <a:latin typeface="Noto Sans"/>
                <a:ea typeface="Noto Sans"/>
                <a:cs typeface="Noto Sans"/>
                <a:sym typeface="Noto Sans"/>
              </a:rPr>
              <a:t>hư viện ImGui mặc định không chứa Glyph tiếng Việt. Các ký tự ă, â, ê, ô bị hiển thị sai lệch.</a:t>
            </a:r>
          </a:p>
          <a:p>
            <a:pPr algn="l">
              <a:lnSpc>
                <a:spcPts val="6159"/>
              </a:lnSpc>
            </a:pPr>
          </a:p>
        </p:txBody>
      </p:sp>
      <p:sp>
        <p:nvSpPr>
          <p:cNvPr name="TextBox 7" id="7"/>
          <p:cNvSpPr txBox="true"/>
          <p:nvPr/>
        </p:nvSpPr>
        <p:spPr>
          <a:xfrm rot="0">
            <a:off x="197082" y="6318601"/>
            <a:ext cx="13227132" cy="3879215"/>
          </a:xfrm>
          <a:prstGeom prst="rect">
            <a:avLst/>
          </a:prstGeom>
        </p:spPr>
        <p:txBody>
          <a:bodyPr anchor="t" rtlCol="false" tIns="0" lIns="0" bIns="0" rIns="0">
            <a:spAutoFit/>
          </a:bodyPr>
          <a:lstStyle/>
          <a:p>
            <a:pPr algn="l" marL="949964" indent="-474982" lvl="1">
              <a:lnSpc>
                <a:spcPts val="6160"/>
              </a:lnSpc>
              <a:buFont typeface="Arial"/>
              <a:buChar char="•"/>
            </a:pPr>
            <a:r>
              <a:rPr lang="en-US" sz="4400">
                <a:solidFill>
                  <a:srgbClr val="000000"/>
                </a:solidFill>
                <a:latin typeface="Noto Sans"/>
                <a:ea typeface="Noto Sans"/>
                <a:cs typeface="Noto Sans"/>
                <a:sym typeface="Noto Sans"/>
              </a:rPr>
              <a:t>Nạp Segoe UI/Arial với GetGlyp</a:t>
            </a:r>
            <a:r>
              <a:rPr lang="en-US" sz="4400">
                <a:solidFill>
                  <a:srgbClr val="000000"/>
                </a:solidFill>
                <a:latin typeface="Noto Sans"/>
                <a:ea typeface="Noto Sans"/>
                <a:cs typeface="Noto Sans"/>
                <a:sym typeface="Noto Sans"/>
              </a:rPr>
              <a:t>hRangesVietnamese().</a:t>
            </a:r>
          </a:p>
          <a:p>
            <a:pPr algn="l" marL="949964" indent="-474982" lvl="1">
              <a:lnSpc>
                <a:spcPts val="6160"/>
              </a:lnSpc>
              <a:buFont typeface="Arial"/>
              <a:buChar char="•"/>
            </a:pPr>
            <a:r>
              <a:rPr lang="en-US" sz="4400">
                <a:solidFill>
                  <a:srgbClr val="000000"/>
                </a:solidFill>
                <a:latin typeface="Noto Sans"/>
                <a:ea typeface="Noto Sans"/>
                <a:cs typeface="Noto Sans"/>
                <a:sym typeface="Noto Sans"/>
              </a:rPr>
              <a:t>Nạp thêm seguiemj.ttf + MergeMode để hỗ trợ Emoji.</a:t>
            </a:r>
          </a:p>
          <a:p>
            <a:pPr algn="l">
              <a:lnSpc>
                <a:spcPts val="6160"/>
              </a:lnSpc>
            </a:pPr>
          </a:p>
        </p:txBody>
      </p:sp>
    </p:spTree>
  </p:cSld>
  <p:clrMapOvr>
    <a:masterClrMapping/>
  </p:clrMapOvr>
  <p:transition spd="fast">
    <p:cover dir="l"/>
  </p:transition>
</p:sld>
</file>

<file path=ppt/slides/slide16.xml><?xml version="1.0" encoding="utf-8"?>
<p:sld xmlns:p="http://schemas.openxmlformats.org/presentationml/2006/main" xmlns:a="http://schemas.openxmlformats.org/drawingml/2006/main">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028700" y="75565"/>
            <a:ext cx="16526376" cy="1811020"/>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3.2. Quản lý</a:t>
            </a:r>
            <a:r>
              <a:rPr lang="en-US" b="true" sz="5199">
                <a:solidFill>
                  <a:srgbClr val="38B6FF"/>
                </a:solidFill>
                <a:latin typeface="Noto Sans Bold"/>
                <a:ea typeface="Noto Sans Bold"/>
                <a:cs typeface="Noto Sans Bold"/>
                <a:sym typeface="Noto Sans Bold"/>
              </a:rPr>
              <a:t> trạng thái tin nhắn (Sent/Delivered/Read)</a:t>
            </a:r>
          </a:p>
        </p:txBody>
      </p:sp>
      <p:sp>
        <p:nvSpPr>
          <p:cNvPr name="TextBox 3" id="3"/>
          <p:cNvSpPr txBox="true"/>
          <p:nvPr/>
        </p:nvSpPr>
        <p:spPr>
          <a:xfrm rot="0">
            <a:off x="410052" y="2226026"/>
            <a:ext cx="3026926"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Noto Sans Bold"/>
                <a:ea typeface="Noto Sans Bold"/>
                <a:cs typeface="Noto Sans Bold"/>
                <a:sym typeface="Noto Sans Bold"/>
              </a:rPr>
              <a:t>KHÓ KHĂN</a:t>
            </a:r>
          </a:p>
        </p:txBody>
      </p:sp>
      <p:sp>
        <p:nvSpPr>
          <p:cNvPr name="TextBox 4" id="4"/>
          <p:cNvSpPr txBox="true"/>
          <p:nvPr/>
        </p:nvSpPr>
        <p:spPr>
          <a:xfrm rot="0">
            <a:off x="481013" y="5220687"/>
            <a:ext cx="2885004"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Noto Sans Bold"/>
                <a:ea typeface="Noto Sans Bold"/>
                <a:cs typeface="Noto Sans Bold"/>
                <a:sym typeface="Noto Sans Bold"/>
              </a:rPr>
              <a:t>GIẢI PHÁP</a:t>
            </a:r>
          </a:p>
        </p:txBody>
      </p:sp>
      <p:sp>
        <p:nvSpPr>
          <p:cNvPr name="TextBox 5" id="5"/>
          <p:cNvSpPr txBox="true"/>
          <p:nvPr/>
        </p:nvSpPr>
        <p:spPr>
          <a:xfrm rot="0">
            <a:off x="197082" y="3323941"/>
            <a:ext cx="17062218" cy="2317116"/>
          </a:xfrm>
          <a:prstGeom prst="rect">
            <a:avLst/>
          </a:prstGeom>
        </p:spPr>
        <p:txBody>
          <a:bodyPr anchor="t" rtlCol="false" tIns="0" lIns="0" bIns="0" rIns="0">
            <a:spAutoFit/>
          </a:bodyPr>
          <a:lstStyle/>
          <a:p>
            <a:pPr algn="l" marL="949954" indent="-474977" lvl="1">
              <a:lnSpc>
                <a:spcPts val="6159"/>
              </a:lnSpc>
              <a:buFont typeface="Arial"/>
              <a:buChar char="•"/>
            </a:pPr>
            <a:r>
              <a:rPr lang="en-US" sz="4399">
                <a:solidFill>
                  <a:srgbClr val="000000"/>
                </a:solidFill>
                <a:latin typeface="Noto Sans"/>
                <a:ea typeface="Noto Sans"/>
                <a:cs typeface="Noto Sans"/>
                <a:sym typeface="Noto Sans"/>
              </a:rPr>
              <a:t>TCP</a:t>
            </a:r>
            <a:r>
              <a:rPr lang="en-US" sz="4399">
                <a:solidFill>
                  <a:srgbClr val="000000"/>
                </a:solidFill>
                <a:latin typeface="Noto Sans"/>
                <a:ea typeface="Noto Sans"/>
                <a:cs typeface="Noto Sans"/>
                <a:sym typeface="Noto Sans"/>
              </a:rPr>
              <a:t> chỉ đảm bảo truyền byte, không xác nhận được ở tầng ứng dụng rằng người dùng đã thực sự ĐỌC tin.</a:t>
            </a:r>
          </a:p>
          <a:p>
            <a:pPr algn="l">
              <a:lnSpc>
                <a:spcPts val="6159"/>
              </a:lnSpc>
            </a:pPr>
          </a:p>
        </p:txBody>
      </p:sp>
      <p:sp>
        <p:nvSpPr>
          <p:cNvPr name="TextBox 6" id="6"/>
          <p:cNvSpPr txBox="true"/>
          <p:nvPr/>
        </p:nvSpPr>
        <p:spPr>
          <a:xfrm rot="0">
            <a:off x="197082" y="6318601"/>
            <a:ext cx="13227132" cy="1536065"/>
          </a:xfrm>
          <a:prstGeom prst="rect">
            <a:avLst/>
          </a:prstGeom>
        </p:spPr>
        <p:txBody>
          <a:bodyPr anchor="t" rtlCol="false" tIns="0" lIns="0" bIns="0" rIns="0">
            <a:spAutoFit/>
          </a:bodyPr>
          <a:lstStyle/>
          <a:p>
            <a:pPr algn="l" marL="949964" indent="-474982" lvl="1">
              <a:lnSpc>
                <a:spcPts val="6160"/>
              </a:lnSpc>
              <a:buFont typeface="Arial"/>
              <a:buChar char="•"/>
            </a:pPr>
            <a:r>
              <a:rPr lang="en-US" sz="4400">
                <a:solidFill>
                  <a:srgbClr val="000000"/>
                </a:solidFill>
                <a:latin typeface="Noto Sans"/>
                <a:ea typeface="Noto Sans"/>
                <a:cs typeface="Noto Sans"/>
                <a:sym typeface="Noto Sans"/>
              </a:rPr>
              <a:t> Bổ sung is_deliver</a:t>
            </a:r>
            <a:r>
              <a:rPr lang="en-US" sz="4400">
                <a:solidFill>
                  <a:srgbClr val="000000"/>
                </a:solidFill>
                <a:latin typeface="Noto Sans"/>
                <a:ea typeface="Noto Sans"/>
                <a:cs typeface="Noto Sans"/>
                <a:sym typeface="Noto Sans"/>
              </a:rPr>
              <a:t>ed, is_read vào ChatMessage.</a:t>
            </a:r>
          </a:p>
        </p:txBody>
      </p:sp>
    </p:spTree>
  </p:cSld>
  <p:clrMapOvr>
    <a:masterClrMapping/>
  </p:clrMapOvr>
  <p:transition spd="slow">
    <p:cover dir="l"/>
  </p:transition>
</p:sld>
</file>

<file path=ppt/slides/slide17.xml><?xml version="1.0" encoding="utf-8"?>
<p:sld xmlns:p="http://schemas.openxmlformats.org/presentationml/2006/main" xmlns:a="http://schemas.openxmlformats.org/drawingml/2006/main">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028700" y="75565"/>
            <a:ext cx="16526376" cy="1811020"/>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3.3. Đụng Độ</a:t>
            </a:r>
            <a:r>
              <a:rPr lang="en-US" b="true" sz="5199">
                <a:solidFill>
                  <a:srgbClr val="38B6FF"/>
                </a:solidFill>
                <a:latin typeface="Noto Sans Bold"/>
                <a:ea typeface="Noto Sans Bold"/>
                <a:cs typeface="Noto Sans Bold"/>
                <a:sym typeface="Noto Sans Bold"/>
              </a:rPr>
              <a:t> Đa Luồng (Data Race &amp; Race Condition)</a:t>
            </a:r>
          </a:p>
        </p:txBody>
      </p:sp>
      <p:sp>
        <p:nvSpPr>
          <p:cNvPr name="TextBox 3" id="3"/>
          <p:cNvSpPr txBox="true"/>
          <p:nvPr/>
        </p:nvSpPr>
        <p:spPr>
          <a:xfrm rot="0">
            <a:off x="410052" y="2226026"/>
            <a:ext cx="3026926"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Noto Sans Bold"/>
                <a:ea typeface="Noto Sans Bold"/>
                <a:cs typeface="Noto Sans Bold"/>
                <a:sym typeface="Noto Sans Bold"/>
              </a:rPr>
              <a:t>KHÓ KHĂN</a:t>
            </a:r>
          </a:p>
        </p:txBody>
      </p:sp>
      <p:sp>
        <p:nvSpPr>
          <p:cNvPr name="TextBox 4" id="4"/>
          <p:cNvSpPr txBox="true"/>
          <p:nvPr/>
        </p:nvSpPr>
        <p:spPr>
          <a:xfrm rot="0">
            <a:off x="481013" y="5220687"/>
            <a:ext cx="2885004"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Noto Sans Bold"/>
                <a:ea typeface="Noto Sans Bold"/>
                <a:cs typeface="Noto Sans Bold"/>
                <a:sym typeface="Noto Sans Bold"/>
              </a:rPr>
              <a:t>GIẢI PHÁP</a:t>
            </a:r>
          </a:p>
        </p:txBody>
      </p:sp>
      <p:sp>
        <p:nvSpPr>
          <p:cNvPr name="TextBox 5" id="5"/>
          <p:cNvSpPr txBox="true"/>
          <p:nvPr/>
        </p:nvSpPr>
        <p:spPr>
          <a:xfrm rot="0">
            <a:off x="197082" y="3323941"/>
            <a:ext cx="17062218" cy="1536066"/>
          </a:xfrm>
          <a:prstGeom prst="rect">
            <a:avLst/>
          </a:prstGeom>
        </p:spPr>
        <p:txBody>
          <a:bodyPr anchor="t" rtlCol="false" tIns="0" lIns="0" bIns="0" rIns="0">
            <a:spAutoFit/>
          </a:bodyPr>
          <a:lstStyle/>
          <a:p>
            <a:pPr algn="l" marL="949954" indent="-474977" lvl="1">
              <a:lnSpc>
                <a:spcPts val="6159"/>
              </a:lnSpc>
              <a:buFont typeface="Arial"/>
              <a:buChar char="•"/>
            </a:pPr>
            <a:r>
              <a:rPr lang="en-US" sz="4399">
                <a:solidFill>
                  <a:srgbClr val="000000"/>
                </a:solidFill>
                <a:latin typeface="Noto Sans"/>
                <a:ea typeface="Noto Sans"/>
                <a:cs typeface="Noto Sans"/>
                <a:sym typeface="Noto Sans"/>
              </a:rPr>
              <a:t>Luồng</a:t>
            </a:r>
            <a:r>
              <a:rPr lang="en-US" sz="4399">
                <a:solidFill>
                  <a:srgbClr val="000000"/>
                </a:solidFill>
                <a:latin typeface="Noto Sans"/>
                <a:ea typeface="Noto Sans"/>
                <a:cs typeface="Noto Sans"/>
                <a:sym typeface="Noto Sans"/>
              </a:rPr>
              <a:t> mạng và UI cùng truy cập vector tin nhắn → xảy ra Data Race/Crash.</a:t>
            </a:r>
          </a:p>
        </p:txBody>
      </p:sp>
      <p:sp>
        <p:nvSpPr>
          <p:cNvPr name="TextBox 6" id="6"/>
          <p:cNvSpPr txBox="true"/>
          <p:nvPr/>
        </p:nvSpPr>
        <p:spPr>
          <a:xfrm rot="0">
            <a:off x="197082" y="6318601"/>
            <a:ext cx="16054431" cy="755015"/>
          </a:xfrm>
          <a:prstGeom prst="rect">
            <a:avLst/>
          </a:prstGeom>
        </p:spPr>
        <p:txBody>
          <a:bodyPr anchor="t" rtlCol="false" tIns="0" lIns="0" bIns="0" rIns="0">
            <a:spAutoFit/>
          </a:bodyPr>
          <a:lstStyle/>
          <a:p>
            <a:pPr algn="l" marL="949964" indent="-474982" lvl="1">
              <a:lnSpc>
                <a:spcPts val="6160"/>
              </a:lnSpc>
              <a:buFont typeface="Arial"/>
              <a:buChar char="•"/>
            </a:pPr>
            <a:r>
              <a:rPr lang="en-US" sz="4400">
                <a:solidFill>
                  <a:srgbClr val="000000"/>
                </a:solidFill>
                <a:latin typeface="Noto Sans"/>
                <a:ea typeface="Noto Sans"/>
                <a:cs typeface="Noto Sans"/>
                <a:sym typeface="Noto Sans"/>
              </a:rPr>
              <a:t>Sử dụng std::mutex và</a:t>
            </a:r>
            <a:r>
              <a:rPr lang="en-US" sz="4400">
                <a:solidFill>
                  <a:srgbClr val="000000"/>
                </a:solidFill>
                <a:latin typeface="Noto Sans"/>
                <a:ea typeface="Noto Sans"/>
                <a:cs typeface="Noto Sans"/>
                <a:sym typeface="Noto Sans"/>
              </a:rPr>
              <a:t> std::lock_guard&lt;std::mutex&gt;.</a:t>
            </a:r>
          </a:p>
        </p:txBody>
      </p:sp>
    </p:spTree>
  </p:cSld>
  <p:clrMapOvr>
    <a:masterClrMapping/>
  </p:clrMapOvr>
  <p:transition spd="slow">
    <p:cover dir="l"/>
  </p:transition>
</p:sld>
</file>

<file path=ppt/slides/slide18.xml><?xml version="1.0" encoding="utf-8"?>
<p:sld xmlns:p="http://schemas.openxmlformats.org/presentationml/2006/main" xmlns:a="http://schemas.openxmlformats.org/drawingml/2006/main">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028700" y="75565"/>
            <a:ext cx="16526376" cy="88709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3.4. Tràn Bộ</a:t>
            </a:r>
            <a:r>
              <a:rPr lang="en-US" b="true" sz="5199">
                <a:solidFill>
                  <a:srgbClr val="38B6FF"/>
                </a:solidFill>
                <a:latin typeface="Noto Sans Bold"/>
                <a:ea typeface="Noto Sans Bold"/>
                <a:cs typeface="Noto Sans Bold"/>
                <a:sym typeface="Noto Sans Bold"/>
              </a:rPr>
              <a:t> Đệm (Buffer Overflow Attack)</a:t>
            </a:r>
          </a:p>
        </p:txBody>
      </p:sp>
      <p:sp>
        <p:nvSpPr>
          <p:cNvPr name="TextBox 3" id="3"/>
          <p:cNvSpPr txBox="true"/>
          <p:nvPr/>
        </p:nvSpPr>
        <p:spPr>
          <a:xfrm rot="0">
            <a:off x="410052" y="2226026"/>
            <a:ext cx="3026926"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Noto Sans Bold"/>
                <a:ea typeface="Noto Sans Bold"/>
                <a:cs typeface="Noto Sans Bold"/>
                <a:sym typeface="Noto Sans Bold"/>
              </a:rPr>
              <a:t>KHÓ KHĂN</a:t>
            </a:r>
          </a:p>
        </p:txBody>
      </p:sp>
      <p:sp>
        <p:nvSpPr>
          <p:cNvPr name="TextBox 4" id="4"/>
          <p:cNvSpPr txBox="true"/>
          <p:nvPr/>
        </p:nvSpPr>
        <p:spPr>
          <a:xfrm rot="0">
            <a:off x="481013" y="5220687"/>
            <a:ext cx="2885004"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Noto Sans Bold"/>
                <a:ea typeface="Noto Sans Bold"/>
                <a:cs typeface="Noto Sans Bold"/>
                <a:sym typeface="Noto Sans Bold"/>
              </a:rPr>
              <a:t>GIẢI PHÁP</a:t>
            </a:r>
          </a:p>
        </p:txBody>
      </p:sp>
      <p:sp>
        <p:nvSpPr>
          <p:cNvPr name="TextBox 5" id="5"/>
          <p:cNvSpPr txBox="true"/>
          <p:nvPr/>
        </p:nvSpPr>
        <p:spPr>
          <a:xfrm rot="0">
            <a:off x="197082" y="3323941"/>
            <a:ext cx="17062218" cy="2317116"/>
          </a:xfrm>
          <a:prstGeom prst="rect">
            <a:avLst/>
          </a:prstGeom>
        </p:spPr>
        <p:txBody>
          <a:bodyPr anchor="t" rtlCol="false" tIns="0" lIns="0" bIns="0" rIns="0">
            <a:spAutoFit/>
          </a:bodyPr>
          <a:lstStyle/>
          <a:p>
            <a:pPr algn="l" marL="949954" indent="-474977" lvl="1">
              <a:lnSpc>
                <a:spcPts val="6159"/>
              </a:lnSpc>
              <a:buFont typeface="Arial"/>
              <a:buChar char="•"/>
            </a:pPr>
            <a:r>
              <a:rPr lang="en-US" sz="4399">
                <a:solidFill>
                  <a:srgbClr val="000000"/>
                </a:solidFill>
                <a:latin typeface="Noto Sans"/>
                <a:ea typeface="Noto Sans"/>
                <a:cs typeface="Noto Sans"/>
                <a:sym typeface="Noto Sans"/>
              </a:rPr>
              <a:t>Ứng</a:t>
            </a:r>
            <a:r>
              <a:rPr lang="en-US" sz="4399">
                <a:solidFill>
                  <a:srgbClr val="000000"/>
                </a:solidFill>
                <a:latin typeface="Noto Sans"/>
                <a:ea typeface="Noto Sans"/>
                <a:cs typeface="Noto Sans"/>
                <a:sym typeface="Noto Sans"/>
              </a:rPr>
              <a:t> dụng P2P dễ bị tấn công nếu dữ liệu đầu vào vượt quá giới hạn mảng.</a:t>
            </a:r>
          </a:p>
          <a:p>
            <a:pPr algn="l">
              <a:lnSpc>
                <a:spcPts val="6159"/>
              </a:lnSpc>
            </a:pPr>
          </a:p>
        </p:txBody>
      </p:sp>
      <p:sp>
        <p:nvSpPr>
          <p:cNvPr name="TextBox 6" id="6"/>
          <p:cNvSpPr txBox="true"/>
          <p:nvPr/>
        </p:nvSpPr>
        <p:spPr>
          <a:xfrm rot="0">
            <a:off x="197082" y="6318601"/>
            <a:ext cx="16054431" cy="3098165"/>
          </a:xfrm>
          <a:prstGeom prst="rect">
            <a:avLst/>
          </a:prstGeom>
        </p:spPr>
        <p:txBody>
          <a:bodyPr anchor="t" rtlCol="false" tIns="0" lIns="0" bIns="0" rIns="0">
            <a:spAutoFit/>
          </a:bodyPr>
          <a:lstStyle/>
          <a:p>
            <a:pPr algn="l" marL="949964" indent="-474982" lvl="1">
              <a:lnSpc>
                <a:spcPts val="6160"/>
              </a:lnSpc>
              <a:buFont typeface="Arial"/>
              <a:buChar char="•"/>
            </a:pPr>
            <a:r>
              <a:rPr lang="en-US" sz="4400">
                <a:solidFill>
                  <a:srgbClr val="000000"/>
                </a:solidFill>
                <a:latin typeface="Noto Sans"/>
                <a:ea typeface="Noto Sans"/>
                <a:cs typeface="Noto Sans"/>
                <a:sym typeface="Noto Sans"/>
              </a:rPr>
              <a:t>Giới hạn kích thước bằng ImGui::InputText.</a:t>
            </a:r>
          </a:p>
          <a:p>
            <a:pPr algn="l" marL="949964" indent="-474982" lvl="1">
              <a:lnSpc>
                <a:spcPts val="6160"/>
              </a:lnSpc>
              <a:buFont typeface="Arial"/>
              <a:buChar char="•"/>
            </a:pPr>
            <a:r>
              <a:rPr lang="en-US" sz="4400">
                <a:solidFill>
                  <a:srgbClr val="000000"/>
                </a:solidFill>
                <a:latin typeface="Noto Sans"/>
                <a:ea typeface="Noto Sans"/>
                <a:cs typeface="Noto Sans"/>
                <a:sym typeface="Noto Sans"/>
              </a:rPr>
              <a:t>Kiểm tra độ dài bằng</a:t>
            </a:r>
            <a:r>
              <a:rPr lang="en-US" sz="4400">
                <a:solidFill>
                  <a:srgbClr val="000000"/>
                </a:solidFill>
                <a:latin typeface="Noto Sans"/>
                <a:ea typeface="Noto Sans"/>
                <a:cs typeface="Noto Sans"/>
                <a:sym typeface="Noto Sans"/>
              </a:rPr>
              <a:t> strlen trước khi strcat.</a:t>
            </a:r>
          </a:p>
          <a:p>
            <a:pPr algn="l" marL="949964" indent="-474982" lvl="1">
              <a:lnSpc>
                <a:spcPts val="6160"/>
              </a:lnSpc>
              <a:buFont typeface="Arial"/>
              <a:buChar char="•"/>
            </a:pPr>
            <a:r>
              <a:rPr lang="en-US" sz="4400">
                <a:solidFill>
                  <a:srgbClr val="000000"/>
                </a:solidFill>
                <a:latin typeface="Noto Sans"/>
                <a:ea typeface="Noto Sans"/>
                <a:cs typeface="Noto Sans"/>
                <a:sym typeface="Noto Sans"/>
              </a:rPr>
              <a:t>Không sử dụng các hàm bộ nhớ nguy hiểm.</a:t>
            </a:r>
          </a:p>
          <a:p>
            <a:pPr algn="l">
              <a:lnSpc>
                <a:spcPts val="6160"/>
              </a:lnSpc>
            </a:pPr>
          </a:p>
        </p:txBody>
      </p:sp>
    </p:spTree>
  </p:cSld>
  <p:clrMapOvr>
    <a:masterClrMapping/>
  </p:clrMapOvr>
  <p:transition spd="slow">
    <p:cover dir="l"/>
  </p:transition>
</p:sld>
</file>

<file path=ppt/slides/slide19.xml><?xml version="1.0" encoding="utf-8"?>
<p:sld xmlns:p="http://schemas.openxmlformats.org/presentationml/2006/main" xmlns:a="http://schemas.openxmlformats.org/drawingml/2006/main">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028700" y="75565"/>
            <a:ext cx="16526376" cy="1811020"/>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3.5. Kẹt tiến trình khóa</a:t>
            </a:r>
            <a:r>
              <a:rPr lang="en-US" b="true" sz="5199">
                <a:solidFill>
                  <a:srgbClr val="38B6FF"/>
                </a:solidFill>
                <a:latin typeface="Noto Sans Bold"/>
                <a:ea typeface="Noto Sans Bold"/>
                <a:cs typeface="Noto Sans Bold"/>
                <a:sym typeface="Noto Sans Bold"/>
              </a:rPr>
              <a:t> file Build (File Lock Exception)</a:t>
            </a:r>
          </a:p>
        </p:txBody>
      </p:sp>
      <p:sp>
        <p:nvSpPr>
          <p:cNvPr name="TextBox 3" id="3"/>
          <p:cNvSpPr txBox="true"/>
          <p:nvPr/>
        </p:nvSpPr>
        <p:spPr>
          <a:xfrm rot="0">
            <a:off x="410052" y="2226026"/>
            <a:ext cx="3026926"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Noto Sans Bold"/>
                <a:ea typeface="Noto Sans Bold"/>
                <a:cs typeface="Noto Sans Bold"/>
                <a:sym typeface="Noto Sans Bold"/>
              </a:rPr>
              <a:t>KHÓ KHĂN</a:t>
            </a:r>
          </a:p>
        </p:txBody>
      </p:sp>
      <p:sp>
        <p:nvSpPr>
          <p:cNvPr name="TextBox 4" id="4"/>
          <p:cNvSpPr txBox="true"/>
          <p:nvPr/>
        </p:nvSpPr>
        <p:spPr>
          <a:xfrm rot="0">
            <a:off x="481013" y="5220687"/>
            <a:ext cx="2885004" cy="755015"/>
          </a:xfrm>
          <a:prstGeom prst="rect">
            <a:avLst/>
          </a:prstGeom>
        </p:spPr>
        <p:txBody>
          <a:bodyPr anchor="t" rtlCol="false" tIns="0" lIns="0" bIns="0" rIns="0">
            <a:spAutoFit/>
          </a:bodyPr>
          <a:lstStyle/>
          <a:p>
            <a:pPr algn="ctr">
              <a:lnSpc>
                <a:spcPts val="6160"/>
              </a:lnSpc>
            </a:pPr>
            <a:r>
              <a:rPr lang="en-US" sz="4400" b="true">
                <a:solidFill>
                  <a:srgbClr val="000000"/>
                </a:solidFill>
                <a:latin typeface="Noto Sans Bold"/>
                <a:ea typeface="Noto Sans Bold"/>
                <a:cs typeface="Noto Sans Bold"/>
                <a:sym typeface="Noto Sans Bold"/>
              </a:rPr>
              <a:t>GIẢI PHÁP</a:t>
            </a:r>
          </a:p>
        </p:txBody>
      </p:sp>
      <p:sp>
        <p:nvSpPr>
          <p:cNvPr name="TextBox 5" id="5"/>
          <p:cNvSpPr txBox="true"/>
          <p:nvPr/>
        </p:nvSpPr>
        <p:spPr>
          <a:xfrm rot="0">
            <a:off x="197082" y="3323941"/>
            <a:ext cx="17062218" cy="2317116"/>
          </a:xfrm>
          <a:prstGeom prst="rect">
            <a:avLst/>
          </a:prstGeom>
        </p:spPr>
        <p:txBody>
          <a:bodyPr anchor="t" rtlCol="false" tIns="0" lIns="0" bIns="0" rIns="0">
            <a:spAutoFit/>
          </a:bodyPr>
          <a:lstStyle/>
          <a:p>
            <a:pPr algn="l" marL="949954" indent="-474977" lvl="1">
              <a:lnSpc>
                <a:spcPts val="6159"/>
              </a:lnSpc>
              <a:buFont typeface="Arial"/>
              <a:buChar char="•"/>
            </a:pPr>
            <a:r>
              <a:rPr lang="en-US" sz="4399">
                <a:solidFill>
                  <a:srgbClr val="000000"/>
                </a:solidFill>
                <a:latin typeface="Noto Sans"/>
                <a:ea typeface="Noto Sans"/>
                <a:cs typeface="Noto Sans"/>
                <a:sym typeface="Noto Sans"/>
              </a:rPr>
              <a:t>Quá</a:t>
            </a:r>
            <a:r>
              <a:rPr lang="en-US" sz="4399">
                <a:solidFill>
                  <a:srgbClr val="000000"/>
                </a:solidFill>
                <a:latin typeface="Noto Sans"/>
                <a:ea typeface="Noto Sans"/>
                <a:cs typeface="Noto Sans"/>
                <a:sym typeface="Noto Sans"/>
              </a:rPr>
              <a:t> trình sửa code và build liên tục trên Windows hay bị lỗi do file .exe cũ vẫn đang chạy ngầm, không thể ghi đè.</a:t>
            </a:r>
          </a:p>
          <a:p>
            <a:pPr algn="l">
              <a:lnSpc>
                <a:spcPts val="6159"/>
              </a:lnSpc>
            </a:pPr>
          </a:p>
        </p:txBody>
      </p:sp>
      <p:sp>
        <p:nvSpPr>
          <p:cNvPr name="TextBox 6" id="6"/>
          <p:cNvSpPr txBox="true"/>
          <p:nvPr/>
        </p:nvSpPr>
        <p:spPr>
          <a:xfrm rot="0">
            <a:off x="197082" y="6318601"/>
            <a:ext cx="16054431" cy="2317115"/>
          </a:xfrm>
          <a:prstGeom prst="rect">
            <a:avLst/>
          </a:prstGeom>
        </p:spPr>
        <p:txBody>
          <a:bodyPr anchor="t" rtlCol="false" tIns="0" lIns="0" bIns="0" rIns="0">
            <a:spAutoFit/>
          </a:bodyPr>
          <a:lstStyle/>
          <a:p>
            <a:pPr algn="l" marL="949964" indent="-474982" lvl="1">
              <a:lnSpc>
                <a:spcPts val="6160"/>
              </a:lnSpc>
              <a:buFont typeface="Arial"/>
              <a:buChar char="•"/>
            </a:pPr>
            <a:r>
              <a:rPr lang="en-US" sz="4400">
                <a:solidFill>
                  <a:srgbClr val="000000"/>
                </a:solidFill>
                <a:latin typeface="Noto Sans"/>
                <a:ea typeface="Noto Sans"/>
                <a:cs typeface="Noto Sans"/>
                <a:sym typeface="Noto Sans"/>
              </a:rPr>
              <a:t>Viết Script (Batch file) tích hợp lệnh tự động kill tiến</a:t>
            </a:r>
            <a:r>
              <a:rPr lang="en-US" sz="4400">
                <a:solidFill>
                  <a:srgbClr val="000000"/>
                </a:solidFill>
                <a:latin typeface="Noto Sans"/>
                <a:ea typeface="Noto Sans"/>
                <a:cs typeface="Noto Sans"/>
                <a:sym typeface="Noto Sans"/>
              </a:rPr>
              <a:t> trình trước khi gọi gcc/g++ để build.</a:t>
            </a:r>
          </a:p>
          <a:p>
            <a:pPr algn="l">
              <a:lnSpc>
                <a:spcPts val="6160"/>
              </a:lnSpc>
            </a:pPr>
          </a:p>
        </p:txBody>
      </p:sp>
    </p:spTree>
  </p:cSld>
  <p:clrMapOvr>
    <a:masterClrMapping/>
  </p:clrMapOvr>
  <p:transition spd="slow">
    <p:cover dir="l"/>
  </p:transition>
</p:sld>
</file>

<file path=ppt/slides/slide20.xml><?xml version="1.0" encoding="utf-8"?>
<p:sld xmlns:p="http://schemas.openxmlformats.org/presentationml/2006/main" xmlns:a="http://schemas.openxmlformats.org/drawingml/2006/main">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6294894" y="3576956"/>
            <a:ext cx="5698212" cy="1566544"/>
          </a:xfrm>
          <a:prstGeom prst="rect">
            <a:avLst/>
          </a:prstGeom>
        </p:spPr>
        <p:txBody>
          <a:bodyPr anchor="t" rtlCol="false" tIns="0" lIns="0" bIns="0" rIns="0">
            <a:spAutoFit/>
          </a:bodyPr>
          <a:lstStyle/>
          <a:p>
            <a:pPr algn="ctr">
              <a:lnSpc>
                <a:spcPts val="12880"/>
              </a:lnSpc>
            </a:pPr>
            <a:r>
              <a:rPr lang="en-US" sz="9200" b="true">
                <a:solidFill>
                  <a:srgbClr val="38B6FF"/>
                </a:solidFill>
                <a:latin typeface="Noto Sans Bold"/>
                <a:ea typeface="Noto Sans Bold"/>
                <a:cs typeface="Noto Sans Bold"/>
                <a:sym typeface="Noto Sans Bold"/>
              </a:rPr>
              <a:t>KẾT LUẬN</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0" y="2968327"/>
            <a:ext cx="18288000" cy="7003415"/>
          </a:xfrm>
          <a:prstGeom prst="rect">
            <a:avLst/>
          </a:prstGeom>
        </p:spPr>
        <p:txBody>
          <a:bodyPr anchor="t" rtlCol="false" tIns="0" lIns="0" bIns="0" rIns="0">
            <a:spAutoFit/>
          </a:bodyPr>
          <a:lstStyle/>
          <a:p>
            <a:pPr algn="l" marL="949961" indent="-474980" lvl="1">
              <a:lnSpc>
                <a:spcPts val="6160"/>
              </a:lnSpc>
              <a:buFont typeface="Arial"/>
              <a:buChar char="•"/>
            </a:pPr>
            <a:r>
              <a:rPr lang="en-US" sz="4400">
                <a:solidFill>
                  <a:srgbClr val="000000"/>
                </a:solidFill>
                <a:latin typeface="Noto Sans"/>
                <a:ea typeface="Noto Sans"/>
                <a:cs typeface="Noto Sans"/>
                <a:sym typeface="Noto Sans"/>
              </a:rPr>
              <a:t>Lập trìn</a:t>
            </a:r>
            <a:r>
              <a:rPr lang="en-US" sz="4400">
                <a:solidFill>
                  <a:srgbClr val="000000"/>
                </a:solidFill>
                <a:latin typeface="Noto Sans"/>
                <a:ea typeface="Noto Sans"/>
                <a:cs typeface="Noto Sans"/>
                <a:sym typeface="Noto Sans"/>
              </a:rPr>
              <a:t>h mạng: Nắm vững Socket, bind, listen, connect, truyền/nhận dữ liệu và phân biệt Blocking / Non-blocking.</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Xử lý đa luồng: Vận dụng Thread, Mutex, Race Condition và đồng bộ hóa vùng nhớ chung.</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Thiết kế UI/UX: Làm quen với Immediate-Mode (ImGui) và cơ chế render OpenGL3 – Frame Loop.</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Kiến trúc phần mềm: Tách biệt Backend (mạng/dữ liệu) và Frontend (giao diện), giúp code sạch và dễ bảo trì.</a:t>
            </a:r>
          </a:p>
          <a:p>
            <a:pPr algn="l">
              <a:lnSpc>
                <a:spcPts val="6160"/>
              </a:lnSpc>
            </a:pPr>
          </a:p>
        </p:txBody>
      </p:sp>
      <p:sp>
        <p:nvSpPr>
          <p:cNvPr name="TextBox 3" id="3"/>
          <p:cNvSpPr txBox="true"/>
          <p:nvPr/>
        </p:nvSpPr>
        <p:spPr>
          <a:xfrm rot="0">
            <a:off x="3654785" y="628864"/>
            <a:ext cx="10543461" cy="887095"/>
          </a:xfrm>
          <a:prstGeom prst="rect">
            <a:avLst/>
          </a:prstGeom>
        </p:spPr>
        <p:txBody>
          <a:bodyPr anchor="t" rtlCol="false" tIns="0" lIns="0" bIns="0" rIns="0">
            <a:spAutoFit/>
          </a:bodyPr>
          <a:lstStyle/>
          <a:p>
            <a:pPr algn="ctr">
              <a:lnSpc>
                <a:spcPts val="7279"/>
              </a:lnSpc>
            </a:pPr>
            <a:r>
              <a:rPr lang="en-US" b="true" sz="5199">
                <a:solidFill>
                  <a:srgbClr val="38B6FF"/>
                </a:solidFill>
                <a:latin typeface="Noto Sans Bold"/>
                <a:ea typeface="Noto Sans Bold"/>
                <a:cs typeface="Noto Sans Bold"/>
                <a:sym typeface="Noto Sans Bold"/>
              </a:rPr>
              <a:t>  Kiến thức và kỹ năng học được</a:t>
            </a:r>
          </a:p>
        </p:txBody>
      </p:sp>
    </p:spTree>
  </p:cSld>
  <p:clrMapOvr>
    <a:masterClrMapping/>
  </p:clrMapOvr>
  <p:transition spd="slow">
    <p:cover dir="d"/>
  </p:transition>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9993378" y="2250532"/>
            <a:ext cx="3839582" cy="4548349"/>
          </a:xfrm>
          <a:custGeom>
            <a:avLst/>
            <a:gdLst/>
            <a:ahLst/>
            <a:cxnLst/>
            <a:rect r="r" b="b" t="t" l="l"/>
            <a:pathLst>
              <a:path h="4548349" w="3839582">
                <a:moveTo>
                  <a:pt x="0" y="0"/>
                </a:moveTo>
                <a:lnTo>
                  <a:pt x="3839582" y="0"/>
                </a:lnTo>
                <a:lnTo>
                  <a:pt x="3839582" y="4548349"/>
                </a:lnTo>
                <a:lnTo>
                  <a:pt x="0" y="4548349"/>
                </a:lnTo>
                <a:lnTo>
                  <a:pt x="0" y="0"/>
                </a:lnTo>
                <a:close/>
              </a:path>
            </a:pathLst>
          </a:custGeom>
          <a:blipFill>
            <a:blip r:embed="rId2"/>
            <a:stretch>
              <a:fillRect l="0" t="0" r="0" b="0"/>
            </a:stretch>
          </a:blipFill>
        </p:spPr>
      </p:sp>
      <p:sp>
        <p:nvSpPr>
          <p:cNvPr name="Freeform 3" id="3"/>
          <p:cNvSpPr/>
          <p:nvPr/>
        </p:nvSpPr>
        <p:spPr>
          <a:xfrm flipH="false" flipV="false" rot="0">
            <a:off x="14056274" y="2250532"/>
            <a:ext cx="3826364" cy="4510548"/>
          </a:xfrm>
          <a:custGeom>
            <a:avLst/>
            <a:gdLst/>
            <a:ahLst/>
            <a:cxnLst/>
            <a:rect r="r" b="b" t="t" l="l"/>
            <a:pathLst>
              <a:path h="4510548" w="3826364">
                <a:moveTo>
                  <a:pt x="0" y="0"/>
                </a:moveTo>
                <a:lnTo>
                  <a:pt x="3826363" y="0"/>
                </a:lnTo>
                <a:lnTo>
                  <a:pt x="3826363" y="4510548"/>
                </a:lnTo>
                <a:lnTo>
                  <a:pt x="0" y="4510548"/>
                </a:lnTo>
                <a:lnTo>
                  <a:pt x="0" y="0"/>
                </a:lnTo>
                <a:close/>
              </a:path>
            </a:pathLst>
          </a:custGeom>
          <a:blipFill>
            <a:blip r:embed="rId3"/>
            <a:stretch>
              <a:fillRect l="0" t="0" r="0" b="0"/>
            </a:stretch>
          </a:blipFill>
        </p:spPr>
      </p:sp>
      <p:sp>
        <p:nvSpPr>
          <p:cNvPr name="TextBox 4" id="4"/>
          <p:cNvSpPr txBox="true"/>
          <p:nvPr/>
        </p:nvSpPr>
        <p:spPr>
          <a:xfrm rot="0">
            <a:off x="476454" y="2164807"/>
            <a:ext cx="9516924" cy="7784465"/>
          </a:xfrm>
          <a:prstGeom prst="rect">
            <a:avLst/>
          </a:prstGeom>
        </p:spPr>
        <p:txBody>
          <a:bodyPr anchor="t" rtlCol="false" tIns="0" lIns="0" bIns="0" rIns="0">
            <a:spAutoFit/>
          </a:bodyPr>
          <a:lstStyle/>
          <a:p>
            <a:pPr algn="l" marL="949961" indent="-474980" lvl="1">
              <a:lnSpc>
                <a:spcPts val="6160"/>
              </a:lnSpc>
              <a:buFont typeface="Arial"/>
              <a:buChar char="•"/>
            </a:pPr>
            <a:r>
              <a:rPr lang="en-US" sz="4400">
                <a:solidFill>
                  <a:srgbClr val="000000"/>
                </a:solidFill>
                <a:latin typeface="Noto Sans"/>
                <a:ea typeface="Noto Sans"/>
                <a:cs typeface="Noto Sans"/>
                <a:sym typeface="Noto Sans"/>
              </a:rPr>
              <a:t>Hoàn thiện Host/Client kết nối TCP P2P.</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Thiết kế giao diện Chat hiện đại, hỗ trợ tốt tiếng Việt UTF-8.</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Hoàn thiện các tiện ích: Emoji, Auto-scroll, Copy, Đã nhận/Đã xem.</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Vượt qua các Test Cases về đa luồng và Buffer Overflow.</a:t>
            </a:r>
          </a:p>
          <a:p>
            <a:pPr algn="l">
              <a:lnSpc>
                <a:spcPts val="6160"/>
              </a:lnSpc>
            </a:pPr>
          </a:p>
        </p:txBody>
      </p:sp>
      <p:sp>
        <p:nvSpPr>
          <p:cNvPr name="TextBox 5" id="5"/>
          <p:cNvSpPr txBox="true"/>
          <p:nvPr/>
        </p:nvSpPr>
        <p:spPr>
          <a:xfrm rot="0">
            <a:off x="4252122" y="628864"/>
            <a:ext cx="9348788" cy="88709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NỘI</a:t>
            </a:r>
            <a:r>
              <a:rPr lang="en-US" b="true" sz="5199">
                <a:solidFill>
                  <a:srgbClr val="38B6FF"/>
                </a:solidFill>
                <a:latin typeface="Noto Sans Bold"/>
                <a:ea typeface="Noto Sans Bold"/>
                <a:cs typeface="Noto Sans Bold"/>
                <a:sym typeface="Noto Sans Bold"/>
              </a:rPr>
              <a:t> DUNG ĐÃ HOÀN THÀNH</a:t>
            </a:r>
          </a:p>
        </p:txBody>
      </p:sp>
    </p:spTree>
  </p:cSld>
  <p:clrMapOvr>
    <a:masterClrMapping/>
  </p:clrMapOvr>
  <p:transition spd="slow">
    <p:cover dir="l"/>
  </p:transition>
</p:sld>
</file>

<file path=ppt/slides/slide23.xml><?xml version="1.0" encoding="utf-8"?>
<p:sld xmlns:p="http://schemas.openxmlformats.org/presentationml/2006/main" xmlns:a="http://schemas.openxmlformats.org/drawingml/2006/main">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0" y="2968327"/>
            <a:ext cx="18288000" cy="6222365"/>
          </a:xfrm>
          <a:prstGeom prst="rect">
            <a:avLst/>
          </a:prstGeom>
        </p:spPr>
        <p:txBody>
          <a:bodyPr anchor="t" rtlCol="false" tIns="0" lIns="0" bIns="0" rIns="0">
            <a:spAutoFit/>
          </a:bodyPr>
          <a:lstStyle/>
          <a:p>
            <a:pPr algn="l" marL="949961" indent="-474980" lvl="1">
              <a:lnSpc>
                <a:spcPts val="6160"/>
              </a:lnSpc>
              <a:buFont typeface="Arial"/>
              <a:buChar char="•"/>
            </a:pPr>
            <a:r>
              <a:rPr lang="en-US" sz="4400">
                <a:solidFill>
                  <a:srgbClr val="000000"/>
                </a:solidFill>
                <a:latin typeface="Noto Sans"/>
                <a:ea typeface="Noto Sans"/>
                <a:cs typeface="Noto Sans"/>
                <a:sym typeface="Noto Sans"/>
              </a:rPr>
              <a:t>NAT Traversal: Tích hợp STUN/TURN/ICE để kết nối P2P qua Internet (WAN).</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Bảo mật E2EE: </a:t>
            </a:r>
            <a:r>
              <a:rPr lang="en-US" sz="4400">
                <a:solidFill>
                  <a:srgbClr val="000000"/>
                </a:solidFill>
                <a:latin typeface="Noto Sans"/>
                <a:ea typeface="Noto Sans"/>
                <a:cs typeface="Noto Sans"/>
                <a:sym typeface="Noto Sans"/>
              </a:rPr>
              <a:t>Tích hợp OpenSSL/RSA để mã hóa dữ liệu chat.</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Database: Tích hợp SQLite để lưu lịch sử tin nhắn Offline thay vì chỉ lưu trên RAM.</a:t>
            </a:r>
          </a:p>
          <a:p>
            <a:pPr algn="l" marL="949961" indent="-474980" lvl="1">
              <a:lnSpc>
                <a:spcPts val="6160"/>
              </a:lnSpc>
              <a:buFont typeface="Arial"/>
              <a:buChar char="•"/>
            </a:pPr>
            <a:r>
              <a:rPr lang="en-US" sz="4400">
                <a:solidFill>
                  <a:srgbClr val="000000"/>
                </a:solidFill>
                <a:latin typeface="Noto Sans"/>
                <a:ea typeface="Noto Sans"/>
                <a:cs typeface="Noto Sans"/>
                <a:sym typeface="Noto Sans"/>
              </a:rPr>
              <a:t>Video/Voice Call: Tích hợp UDP/WebRTC để hỗ trợ truyền dữ liệu thời gian thực.</a:t>
            </a:r>
          </a:p>
          <a:p>
            <a:pPr algn="l">
              <a:lnSpc>
                <a:spcPts val="6160"/>
              </a:lnSpc>
            </a:pPr>
          </a:p>
        </p:txBody>
      </p:sp>
      <p:sp>
        <p:nvSpPr>
          <p:cNvPr name="TextBox 3" id="3"/>
          <p:cNvSpPr txBox="true"/>
          <p:nvPr/>
        </p:nvSpPr>
        <p:spPr>
          <a:xfrm rot="0">
            <a:off x="1014574" y="628864"/>
            <a:ext cx="15823883" cy="887095"/>
          </a:xfrm>
          <a:prstGeom prst="rect">
            <a:avLst/>
          </a:prstGeom>
        </p:spPr>
        <p:txBody>
          <a:bodyPr anchor="t" rtlCol="false" tIns="0" lIns="0" bIns="0" rIns="0">
            <a:spAutoFit/>
          </a:bodyPr>
          <a:lstStyle/>
          <a:p>
            <a:pPr algn="ctr">
              <a:lnSpc>
                <a:spcPts val="7279"/>
              </a:lnSpc>
            </a:pPr>
            <a:r>
              <a:rPr lang="en-US" sz="5199" b="true">
                <a:solidFill>
                  <a:srgbClr val="38B6FF"/>
                </a:solidFill>
                <a:latin typeface="Noto Sans Bold"/>
                <a:ea typeface="Noto Sans Bold"/>
                <a:cs typeface="Noto Sans Bold"/>
                <a:sym typeface="Noto Sans Bold"/>
              </a:rPr>
              <a:t>NỘI</a:t>
            </a:r>
            <a:r>
              <a:rPr lang="en-US" b="true" sz="5199">
                <a:solidFill>
                  <a:srgbClr val="38B6FF"/>
                </a:solidFill>
                <a:latin typeface="Noto Sans Bold"/>
                <a:ea typeface="Noto Sans Bold"/>
                <a:cs typeface="Noto Sans Bold"/>
                <a:sym typeface="Noto Sans Bold"/>
              </a:rPr>
              <a:t> DUNG CHƯA HOÀN THÀNH &amp; ĐỊNH HƯỚNG</a:t>
            </a:r>
          </a:p>
        </p:txBody>
      </p:sp>
    </p:spTree>
  </p:cSld>
  <p:clrMapOvr>
    <a:masterClrMapping/>
  </p:clrMapOvr>
  <p:transition spd="slow">
    <p:cover dir="l"/>
  </p:transition>
</p:sld>
</file>

<file path=ppt/slides/slide24.xml><?xml version="1.0" encoding="utf-8"?>
<p:sld xmlns:p="http://schemas.openxmlformats.org/presentationml/2006/main" xmlns:a="http://schemas.openxmlformats.org/drawingml/2006/main">
  <p:cSld>
    <p:bg>
      <p:bgPr>
        <a:gradFill rotWithShape="true">
          <a:gsLst>
            <a:gs pos="0">
              <a:srgbClr val="FEFEFE">
                <a:alpha val="100000"/>
              </a:srgbClr>
            </a:gs>
            <a:gs pos="100000">
              <a:srgbClr val="E5F8FF">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TextBox 2" id="2"/>
          <p:cNvSpPr txBox="true"/>
          <p:nvPr/>
        </p:nvSpPr>
        <p:spPr>
          <a:xfrm rot="0">
            <a:off x="1298220" y="2797196"/>
            <a:ext cx="15040461" cy="3247768"/>
          </a:xfrm>
          <a:prstGeom prst="rect">
            <a:avLst/>
          </a:prstGeom>
        </p:spPr>
        <p:txBody>
          <a:bodyPr anchor="t" rtlCol="false" tIns="0" lIns="0" bIns="0" rIns="0">
            <a:spAutoFit/>
          </a:bodyPr>
          <a:lstStyle/>
          <a:p>
            <a:pPr algn="ctr">
              <a:lnSpc>
                <a:spcPts val="26642"/>
              </a:lnSpc>
            </a:pPr>
            <a:r>
              <a:rPr lang="en-US" sz="19030" b="true">
                <a:solidFill>
                  <a:srgbClr val="000000"/>
                </a:solidFill>
                <a:latin typeface="Noto Sans Bold"/>
                <a:ea typeface="Noto Sans Bold"/>
                <a:cs typeface="Noto Sans Bold"/>
                <a:sym typeface="Noto Sans Bold"/>
              </a:rPr>
              <a:t>THANK YOU!</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DAHUyWDBIEA</dc:identifier>
  <dcterms:modified xsi:type="dcterms:W3CDTF">2011-08-01T06:04:30Z</dcterms:modified>
  <cp:revision>1</cp:revision>
  <dc:title>TRƯỜNG ĐẠI HỌC GIAO THÔNG VẬN TẢI THÀNH PHỐ HỒ CHÍ MINH</dc:title>
</cp:coreProperties>
</file>